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ics" id="{619F3A07-BB30-5A76-3ECA-44170F1CD3DF}">
          <p14:sldIdLst>
            <p14:sldId id="256"/>
            <p14:sldId id="257"/>
            <p14:sldId id="258"/>
          </p14:sldIdLst>
        </p14:section>
        <p14:section name="Choosing splits" id="{D9AEB65D-0F05-D697-898D-A298F0FA9922}">
          <p14:sldIdLst>
            <p14:sldId id="259"/>
            <p14:sldId id="260"/>
          </p14:sldIdLst>
        </p14:section>
        <p14:section name="Wrap-up" id="{EE4F5C26-183B-487D-68B0-E973F4CEA1C5}">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62626"/>
                </a:solidFill>
                <a:latin typeface="+mn-lt"/>
              </a:defRPr>
            </a:pPr>
            <a:r>
              <a:rPr lang="en-US" sz="1400" b="0" i="0" u="none" strike="noStrike">
                <a:solidFill>
                  <a:srgbClr val="262626"/>
                </a:solidFill>
                <a:latin typeface="+mn-lt"/>
              </a:rPr>
              <a:t>Entropy vs. share of "yes" examples</a:t>
            </a:r>
          </a:p>
        </c:rich>
      </c:tx>
      <c:overlay val="0"/>
    </c:title>
    <c:autoTitleDeleted val="0"/>
    <c:plotArea>
      <c:layout/>
      <c:lineChart>
        <c:grouping val="standard"/>
        <c:varyColors val="0"/>
        <c:ser>
          <c:idx val="0"/>
          <c:order val="0"/>
          <c:tx>
            <c:strRef>
              <c:f>Sheet1!$B$1</c:f>
              <c:strCache>
                <c:ptCount val="1"/>
                <c:pt idx="0">
                  <c:v>Entropy</c:v>
                </c:pt>
              </c:strCache>
            </c:strRef>
          </c:tx>
          <c:spPr>
            <a:ln w="38100" cap="flat">
              <a:solidFill>
                <a:srgbClr val="2F6F6B"/>
              </a:solidFill>
              <a:prstDash val="solid"/>
              <a:round/>
            </a:ln>
            <a:effectLst/>
          </c:spPr>
          <c:marker>
            <c:symbol val="circle"/>
            <c:size val="7"/>
            <c:spPr>
              <a:solidFill>
                <a:srgbClr val="2F6F6B"/>
              </a:solidFill>
              <a:ln w="9525" cap="flat">
                <a:solidFill>
                  <a:srgbClr val="2F6F6B"/>
                </a:solidFill>
                <a:prstDash val="solid"/>
                <a:round/>
              </a:ln>
              <a:effectLst/>
            </c:spPr>
          </c:marker>
          <c:cat>
            <c:strRef>
              <c:f>Sheet1!$A$2:$A$12</c:f>
              <c:strCache>
                <c:ptCount val="11"/>
                <c:pt idx="0">
                  <c:v>0</c:v>
                </c:pt>
                <c:pt idx="1">
                  <c:v>0.1</c:v>
                </c:pt>
                <c:pt idx="2">
                  <c:v>0.2</c:v>
                </c:pt>
                <c:pt idx="3">
                  <c:v>0.3</c:v>
                </c:pt>
                <c:pt idx="4">
                  <c:v>0.4</c:v>
                </c:pt>
                <c:pt idx="5">
                  <c:v>0.5</c:v>
                </c:pt>
                <c:pt idx="6">
                  <c:v>0.6</c:v>
                </c:pt>
                <c:pt idx="7">
                  <c:v>0.7</c:v>
                </c:pt>
                <c:pt idx="8">
                  <c:v>0.8</c:v>
                </c:pt>
                <c:pt idx="9">
                  <c:v>0.9</c:v>
                </c:pt>
                <c:pt idx="10">
                  <c:v>1</c:v>
                </c:pt>
              </c:strCache>
            </c:strRef>
          </c:cat>
          <c:val>
            <c:numRef>
              <c:f>Sheet1!$B$2:$B$12</c:f>
              <c:numCache>
                <c:formatCode>General</c:formatCode>
                <c:ptCount val="11"/>
                <c:pt idx="0">
                  <c:v>0</c:v>
                </c:pt>
                <c:pt idx="1">
                  <c:v>0.46899999999999997</c:v>
                </c:pt>
                <c:pt idx="2">
                  <c:v>0.72199999999999998</c:v>
                </c:pt>
                <c:pt idx="3">
                  <c:v>0.88100000000000001</c:v>
                </c:pt>
                <c:pt idx="4">
                  <c:v>0.97099999999999997</c:v>
                </c:pt>
                <c:pt idx="5">
                  <c:v>1</c:v>
                </c:pt>
                <c:pt idx="6">
                  <c:v>0.97099999999999997</c:v>
                </c:pt>
                <c:pt idx="7">
                  <c:v>0.88100000000000001</c:v>
                </c:pt>
                <c:pt idx="8">
                  <c:v>0.72199999999999998</c:v>
                </c:pt>
                <c:pt idx="9">
                  <c:v>0.46899999999999997</c:v>
                </c:pt>
                <c:pt idx="10">
                  <c:v>0</c:v>
                </c:pt>
              </c:numCache>
            </c:numRef>
          </c:val>
          <c:smooth val="1"/>
          <c:extLst>
            <c:ext xmlns:c16="http://schemas.microsoft.com/office/drawing/2014/chart" uri="{C3380CC4-5D6E-409C-BE32-E72D297353CC}">
              <c16:uniqueId val="{00000000-B31E-4D02-8141-315AD844388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95959"/>
                    </a:solidFill>
                    <a:latin typeface="+mn-lt"/>
                  </a:defRPr>
                </a:pPr>
                <a:r>
                  <a:rPr lang="en-US" sz="1200" b="0" i="0" u="none" strike="noStrike">
                    <a:solidFill>
                      <a:srgbClr val="595959"/>
                    </a:solidFill>
                    <a:latin typeface="+mn-lt"/>
                  </a:rPr>
                  <a:t>Share of "yes" in the group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0E0E0"/>
              </a:solidFill>
              <a:prstDash val="solid"/>
              <a:round/>
            </a:ln>
          </c:spPr>
        </c:majorGridlines>
        <c:title>
          <c:tx>
            <c:rich>
              <a:bodyPr/>
              <a:lstStyle/>
              <a:p>
                <a:pPr>
                  <a:defRPr sz="1200" b="0" i="0" u="none" strike="noStrike">
                    <a:solidFill>
                      <a:srgbClr val="595959"/>
                    </a:solidFill>
                    <a:latin typeface="+mn-lt"/>
                  </a:defRPr>
                </a:pPr>
                <a:r>
                  <a:rPr lang="en-IN" sz="1200" b="0" i="0" u="none" strike="noStrike">
                    <a:solidFill>
                      <a:srgbClr val="595959"/>
                    </a:solidFill>
                    <a:latin typeface="+mn-lt"/>
                  </a:rPr>
                  <a:t>Entropy</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824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A decision tree is basically a flowchart that a computer builds for itself from examples. Today: how it's drawn, how it learns, how we measure a good question, and how we stop it from overthinking.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of how a tree stores what it knows. The question sits in a node, each answer is a branch, and the end of the path is the decision. Because of that, a tree can always be read as a set of if-then rules. For classification, the leaf holds the class label.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learns top-down. Everything starts in one pile, we find the one question that separates it best, split, and then repeat inside each new pile. The only real decision is what 'best' means, and that's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entropy as a messiness score. A group that is all 'yes' is perfectly tidy, so the score is zero. A group split evenly is as messy as it gets, so the score is one. The tree wants its groups to get tidier after every split.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gain is just: how messy was the group before, minus how messy is it after splitting. Splitting on Outlook takes us from 0.94 down to about 0.69, so we gain around 0.25. Do that for every feature, and Outlook comes out on top, which is why it sits at the root in the earlier diagram.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alone, a tree keeps splitting until it has memorised the training data, including the random quirks. That's overfitting. Pruning fixes it. You can stop the tree early, or grow it fully and then snip back the branches that don't help on data it hasn't seen.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trees are popular because you can actually read them, and they work for both classification and decision-making. The catches are overfitting and instability, which pruning and ensembles like Random Forests help with.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6262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4206240" cy="17373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880360"/>
            <a:ext cx="4023360" cy="914400"/>
          </a:xfrm>
          <a:prstGeom prst="rect">
            <a:avLst/>
          </a:prstGeom>
          <a:noFill/>
          <a:ln/>
        </p:spPr>
        <p:txBody>
          <a:bodyPr wrap="square" rtlCol="0"/>
          <a:lstStyle>
            <a:lvl1pPr marL="0" indent="0" algn="l">
              <a:buNone/>
              <a:defRPr lang="en-US" sz="1800" dirty="0">
                <a:solidFill>
                  <a:schemeClr val="accent3"/>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44914"/>
            <a:ext cx="7642098" cy="774932"/>
          </a:xfrm>
          <a:prstGeom prst="rect">
            <a:avLst/>
          </a:prstGeom>
          <a:noFill/>
          <a:ln/>
        </p:spPr>
        <p:txBody>
          <a:bodyPr wrap="square" lIns="0" tIns="0" rIns="0" bIns="0" rtlCol="0" anchor="b"/>
          <a:lstStyle/>
          <a:p>
            <a:pPr marL="0" indent="0" algn="ctr">
              <a:buNone/>
            </a:pPr>
            <a:r>
              <a:rPr lang="en-US" sz="4800" b="1" dirty="0">
                <a:solidFill>
                  <a:schemeClr val="bg2">
                    <a:lumMod val="10000"/>
                  </a:schemeClr>
                </a:solidFill>
              </a:rPr>
              <a:t>Decision Trees</a:t>
            </a:r>
            <a:endParaRPr lang="en-US" sz="4800" dirty="0">
              <a:solidFill>
                <a:schemeClr val="bg2">
                  <a:lumMod val="10000"/>
                </a:schemeClr>
              </a:solidFill>
            </a:endParaRPr>
          </a:p>
        </p:txBody>
      </p:sp>
      <p:sp>
        <p:nvSpPr>
          <p:cNvPr id="3" name="Text 0"/>
          <p:cNvSpPr>
            <a:spLocks noGrp="1"/>
          </p:cNvSpPr>
          <p:nvPr>
            <p:ph type="body" idx="101" hasCustomPrompt="1"/>
          </p:nvPr>
        </p:nvSpPr>
        <p:spPr>
          <a:xfrm>
            <a:off x="1473200" y="2918484"/>
            <a:ext cx="6488937" cy="646331"/>
          </a:xfrm>
          <a:prstGeom prst="rect">
            <a:avLst/>
          </a:prstGeom>
          <a:noFill/>
          <a:ln/>
        </p:spPr>
        <p:txBody>
          <a:bodyPr wrap="square" lIns="0" tIns="0" rIns="0" bIns="0" rtlCol="0" anchor="t"/>
          <a:lstStyle/>
          <a:p>
            <a:pPr marL="0" indent="0" algn="l">
              <a:buNone/>
            </a:pPr>
            <a:r>
              <a:rPr lang="en-US" sz="1800" dirty="0">
                <a:solidFill>
                  <a:schemeClr val="bg2">
                    <a:lumMod val="10000"/>
                  </a:schemeClr>
                </a:solidFill>
              </a:rPr>
              <a:t>How they learn, what they know, and how to keep them in shape</a:t>
            </a:r>
          </a:p>
        </p:txBody>
      </p:sp>
      <p:sp>
        <p:nvSpPr>
          <p:cNvPr id="34" name="TextBox 33">
            <a:extLst>
              <a:ext uri="{FF2B5EF4-FFF2-40B4-BE49-F238E27FC236}">
                <a16:creationId xmlns:a16="http://schemas.microsoft.com/office/drawing/2014/main" id="{A896702B-C987-D6C8-CB24-E195829481E9}"/>
              </a:ext>
            </a:extLst>
          </p:cNvPr>
          <p:cNvSpPr txBox="1"/>
          <p:nvPr/>
        </p:nvSpPr>
        <p:spPr>
          <a:xfrm>
            <a:off x="770382" y="1561610"/>
            <a:ext cx="7408926" cy="400110"/>
          </a:xfrm>
          <a:prstGeom prst="rect">
            <a:avLst/>
          </a:prstGeom>
          <a:noFill/>
        </p:spPr>
        <p:txBody>
          <a:bodyPr wrap="square">
            <a:spAutoFit/>
          </a:bodyPr>
          <a:lstStyle/>
          <a:p>
            <a:pPr algn="ctr"/>
            <a:r>
              <a:rPr lang="en-IN" sz="2000" dirty="0"/>
              <a:t>ITA-0603 - MACHINE LEARNING</a:t>
            </a:r>
          </a:p>
        </p:txBody>
      </p:sp>
      <p:sp>
        <p:nvSpPr>
          <p:cNvPr id="36" name="TextBox 35">
            <a:extLst>
              <a:ext uri="{FF2B5EF4-FFF2-40B4-BE49-F238E27FC236}">
                <a16:creationId xmlns:a16="http://schemas.microsoft.com/office/drawing/2014/main" id="{4DAED21D-EC3A-EF96-FE89-A82F6BD891D1}"/>
              </a:ext>
            </a:extLst>
          </p:cNvPr>
          <p:cNvSpPr txBox="1"/>
          <p:nvPr/>
        </p:nvSpPr>
        <p:spPr>
          <a:xfrm>
            <a:off x="548640" y="3763453"/>
            <a:ext cx="4572000" cy="646331"/>
          </a:xfrm>
          <a:prstGeom prst="rect">
            <a:avLst/>
          </a:prstGeom>
          <a:noFill/>
        </p:spPr>
        <p:txBody>
          <a:bodyPr wrap="square">
            <a:spAutoFit/>
          </a:bodyPr>
          <a:lstStyle/>
          <a:p>
            <a:pPr algn="l">
              <a:buNone/>
            </a:pPr>
            <a:r>
              <a:rPr lang="en-US" dirty="0">
                <a:solidFill>
                  <a:schemeClr val="bg2">
                    <a:lumMod val="10000"/>
                  </a:schemeClr>
                </a:solidFill>
                <a:latin typeface="Google Sans"/>
              </a:rPr>
              <a:t>N</a:t>
            </a:r>
            <a:r>
              <a:rPr lang="en-IN" dirty="0" err="1">
                <a:solidFill>
                  <a:schemeClr val="bg2">
                    <a:lumMod val="10000"/>
                  </a:schemeClr>
                </a:solidFill>
                <a:latin typeface="Google Sans"/>
              </a:rPr>
              <a:t>ame</a:t>
            </a:r>
            <a:r>
              <a:rPr lang="en-IN" dirty="0">
                <a:solidFill>
                  <a:schemeClr val="bg2">
                    <a:lumMod val="10000"/>
                  </a:schemeClr>
                </a:solidFill>
                <a:latin typeface="Google Sans"/>
              </a:rPr>
              <a:t> : Raman Rishi . V</a:t>
            </a:r>
          </a:p>
          <a:p>
            <a:pPr algn="l">
              <a:buNone/>
            </a:pPr>
            <a:r>
              <a:rPr lang="en-IN" b="0" i="0" dirty="0" err="1">
                <a:solidFill>
                  <a:schemeClr val="bg2">
                    <a:lumMod val="10000"/>
                  </a:schemeClr>
                </a:solidFill>
                <a:effectLst/>
                <a:latin typeface="Google Sans"/>
              </a:rPr>
              <a:t>Reg.No</a:t>
            </a:r>
            <a:r>
              <a:rPr lang="en-IN" b="0" i="0" dirty="0">
                <a:solidFill>
                  <a:schemeClr val="bg2">
                    <a:lumMod val="10000"/>
                  </a:schemeClr>
                </a:solidFill>
                <a:effectLst/>
                <a:latin typeface="Google Sans"/>
              </a:rPr>
              <a:t> : 1911260174</a:t>
            </a:r>
          </a:p>
        </p:txBody>
      </p:sp>
      <p:sp>
        <p:nvSpPr>
          <p:cNvPr id="38" name="TextBox 37">
            <a:extLst>
              <a:ext uri="{FF2B5EF4-FFF2-40B4-BE49-F238E27FC236}">
                <a16:creationId xmlns:a16="http://schemas.microsoft.com/office/drawing/2014/main" id="{9746A353-9565-5E24-A8DC-5401698172BE}"/>
              </a:ext>
            </a:extLst>
          </p:cNvPr>
          <p:cNvSpPr txBox="1"/>
          <p:nvPr/>
        </p:nvSpPr>
        <p:spPr>
          <a:xfrm>
            <a:off x="6864858" y="3753055"/>
            <a:ext cx="1508760" cy="646331"/>
          </a:xfrm>
          <a:prstGeom prst="rect">
            <a:avLst/>
          </a:prstGeom>
          <a:noFill/>
        </p:spPr>
        <p:txBody>
          <a:bodyPr wrap="square">
            <a:spAutoFit/>
          </a:bodyPr>
          <a:lstStyle/>
          <a:p>
            <a:pPr algn="l">
              <a:buNone/>
            </a:pPr>
            <a:r>
              <a:rPr lang="en-US" b="0" i="0" dirty="0">
                <a:solidFill>
                  <a:schemeClr val="bg2">
                    <a:lumMod val="10000"/>
                  </a:schemeClr>
                </a:solidFill>
                <a:effectLst/>
                <a:latin typeface="Google Sans"/>
              </a:rPr>
              <a:t>Guided By :</a:t>
            </a:r>
          </a:p>
          <a:p>
            <a:pPr algn="l">
              <a:buNone/>
            </a:pPr>
            <a:r>
              <a:rPr lang="en-US" b="0" i="0" dirty="0">
                <a:solidFill>
                  <a:schemeClr val="bg2">
                    <a:lumMod val="10000"/>
                  </a:schemeClr>
                </a:solidFill>
                <a:effectLst/>
                <a:latin typeface="Google Sans"/>
              </a:rPr>
              <a:t>Dr. Geetha .R</a:t>
            </a:r>
            <a:endParaRPr lang="en-IN" b="0" i="0" dirty="0">
              <a:solidFill>
                <a:schemeClr val="bg2">
                  <a:lumMod val="10000"/>
                </a:schemeClr>
              </a:solidFill>
              <a:effectLst/>
              <a:latin typeface="Google Sans"/>
            </a:endParaRPr>
          </a:p>
        </p:txBody>
      </p:sp>
      <p:pic>
        <p:nvPicPr>
          <p:cNvPr id="39" name="Picture 38">
            <a:extLst>
              <a:ext uri="{FF2B5EF4-FFF2-40B4-BE49-F238E27FC236}">
                <a16:creationId xmlns:a16="http://schemas.microsoft.com/office/drawing/2014/main" id="{8802387F-1D68-0EE7-3958-393BC7A26BEE}"/>
              </a:ext>
            </a:extLst>
          </p:cNvPr>
          <p:cNvPicPr>
            <a:picLocks noChangeAspect="1"/>
          </p:cNvPicPr>
          <p:nvPr/>
        </p:nvPicPr>
        <p:blipFill>
          <a:blip r:embed="rId3"/>
          <a:stretch>
            <a:fillRect/>
          </a:stretch>
        </p:blipFill>
        <p:spPr>
          <a:xfrm>
            <a:off x="817481" y="0"/>
            <a:ext cx="7556137" cy="11035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The tree, in plain terms</a:t>
            </a:r>
            <a:endParaRPr lang="en-US" sz="3600" dirty="0"/>
          </a:p>
        </p:txBody>
      </p:sp>
      <p:sp>
        <p:nvSpPr>
          <p:cNvPr id="3" name="Edge root to sunny"/>
          <p:cNvSpPr/>
          <p:nvPr/>
        </p:nvSpPr>
        <p:spPr>
          <a:xfrm flipV="1">
            <a:off x="1737360" y="1828800"/>
            <a:ext cx="1188720" cy="640080"/>
          </a:xfrm>
          <a:prstGeom prst="line">
            <a:avLst/>
          </a:prstGeom>
          <a:noFill/>
          <a:ln w="19050">
            <a:solidFill>
              <a:schemeClr val="accent3"/>
            </a:solidFill>
            <a:prstDash val="solid"/>
          </a:ln>
        </p:spPr>
      </p:sp>
      <p:sp>
        <p:nvSpPr>
          <p:cNvPr id="4" name="Edge root to overcast"/>
          <p:cNvSpPr/>
          <p:nvPr/>
        </p:nvSpPr>
        <p:spPr>
          <a:xfrm>
            <a:off x="2926080" y="1828800"/>
            <a:ext cx="0" cy="640080"/>
          </a:xfrm>
          <a:prstGeom prst="line">
            <a:avLst/>
          </a:prstGeom>
          <a:noFill/>
          <a:ln w="19050">
            <a:solidFill>
              <a:schemeClr val="accent3"/>
            </a:solidFill>
            <a:prstDash val="solid"/>
          </a:ln>
        </p:spPr>
      </p:sp>
      <p:sp>
        <p:nvSpPr>
          <p:cNvPr id="5" name="Edge root to rain"/>
          <p:cNvSpPr/>
          <p:nvPr/>
        </p:nvSpPr>
        <p:spPr>
          <a:xfrm>
            <a:off x="2926080" y="1828800"/>
            <a:ext cx="1188720" cy="640080"/>
          </a:xfrm>
          <a:prstGeom prst="line">
            <a:avLst/>
          </a:prstGeom>
          <a:noFill/>
          <a:ln w="19050">
            <a:solidFill>
              <a:schemeClr val="accent3"/>
            </a:solidFill>
            <a:prstDash val="solid"/>
          </a:ln>
        </p:spPr>
      </p:sp>
      <p:sp>
        <p:nvSpPr>
          <p:cNvPr id="6" name="Edge humidity high"/>
          <p:cNvSpPr/>
          <p:nvPr/>
        </p:nvSpPr>
        <p:spPr>
          <a:xfrm flipV="1">
            <a:off x="1143000" y="2926080"/>
            <a:ext cx="594360" cy="640080"/>
          </a:xfrm>
          <a:prstGeom prst="line">
            <a:avLst/>
          </a:prstGeom>
          <a:noFill/>
          <a:ln w="19050">
            <a:solidFill>
              <a:schemeClr val="accent3"/>
            </a:solidFill>
            <a:prstDash val="solid"/>
          </a:ln>
        </p:spPr>
      </p:sp>
      <p:sp>
        <p:nvSpPr>
          <p:cNvPr id="7" name="Edge humidity normal"/>
          <p:cNvSpPr/>
          <p:nvPr/>
        </p:nvSpPr>
        <p:spPr>
          <a:xfrm>
            <a:off x="1737360" y="2926080"/>
            <a:ext cx="594360" cy="640080"/>
          </a:xfrm>
          <a:prstGeom prst="line">
            <a:avLst/>
          </a:prstGeom>
          <a:noFill/>
          <a:ln w="19050">
            <a:solidFill>
              <a:schemeClr val="accent3"/>
            </a:solidFill>
            <a:prstDash val="solid"/>
          </a:ln>
        </p:spPr>
      </p:sp>
      <p:sp>
        <p:nvSpPr>
          <p:cNvPr id="8" name="Edge wind strong"/>
          <p:cNvSpPr/>
          <p:nvPr/>
        </p:nvSpPr>
        <p:spPr>
          <a:xfrm flipV="1">
            <a:off x="3520440" y="2926080"/>
            <a:ext cx="594360" cy="640080"/>
          </a:xfrm>
          <a:prstGeom prst="line">
            <a:avLst/>
          </a:prstGeom>
          <a:noFill/>
          <a:ln w="19050">
            <a:solidFill>
              <a:schemeClr val="accent3"/>
            </a:solidFill>
            <a:prstDash val="solid"/>
          </a:ln>
        </p:spPr>
      </p:sp>
      <p:sp>
        <p:nvSpPr>
          <p:cNvPr id="9" name="Edge wind weak"/>
          <p:cNvSpPr/>
          <p:nvPr/>
        </p:nvSpPr>
        <p:spPr>
          <a:xfrm>
            <a:off x="4114800" y="2926080"/>
            <a:ext cx="594360" cy="640080"/>
          </a:xfrm>
          <a:prstGeom prst="line">
            <a:avLst/>
          </a:prstGeom>
          <a:noFill/>
          <a:ln w="19050">
            <a:solidFill>
              <a:schemeClr val="accent3"/>
            </a:solidFill>
            <a:prstDash val="solid"/>
          </a:ln>
        </p:spPr>
      </p:sp>
      <p:sp>
        <p:nvSpPr>
          <p:cNvPr id="10" name="Root outlook"/>
          <p:cNvSpPr/>
          <p:nvPr/>
        </p:nvSpPr>
        <p:spPr>
          <a:xfrm>
            <a:off x="2331720" y="1371600"/>
            <a:ext cx="1188720" cy="457200"/>
          </a:xfrm>
          <a:prstGeom prst="roundRect">
            <a:avLst>
              <a:gd name="adj" fmla="val 20000"/>
            </a:avLst>
          </a:prstGeom>
          <a:solidFill>
            <a:schemeClr val="bg2"/>
          </a:solidFill>
          <a:ln w="12700">
            <a:solidFill>
              <a:schemeClr val="accent3"/>
            </a:solidFill>
          </a:ln>
        </p:spPr>
        <p:txBody>
          <a:bodyPr wrap="square" lIns="381" tIns="381" rIns="381" bIns="381" rtlCol="0" anchor="ctr"/>
          <a:lstStyle/>
          <a:p>
            <a:pPr marL="0" indent="0" algn="ctr">
              <a:buNone/>
            </a:pPr>
            <a:r>
              <a:rPr lang="en-US" sz="1400" b="1" dirty="0">
                <a:solidFill>
                  <a:schemeClr val="tx1"/>
                </a:solidFill>
              </a:rPr>
              <a:t>Outlook?</a:t>
            </a:r>
            <a:endParaRPr lang="en-US" sz="1400" dirty="0"/>
          </a:p>
        </p:txBody>
      </p:sp>
      <p:sp>
        <p:nvSpPr>
          <p:cNvPr id="11" name="Node humidity"/>
          <p:cNvSpPr/>
          <p:nvPr/>
        </p:nvSpPr>
        <p:spPr>
          <a:xfrm>
            <a:off x="1143000" y="2468880"/>
            <a:ext cx="1188720" cy="457200"/>
          </a:xfrm>
          <a:prstGeom prst="roundRect">
            <a:avLst>
              <a:gd name="adj" fmla="val 20000"/>
            </a:avLst>
          </a:prstGeom>
          <a:solidFill>
            <a:schemeClr val="bg2"/>
          </a:solidFill>
          <a:ln w="12700">
            <a:solidFill>
              <a:schemeClr val="accent3"/>
            </a:solidFill>
          </a:ln>
        </p:spPr>
        <p:txBody>
          <a:bodyPr wrap="square" lIns="381" tIns="381" rIns="381" bIns="381" rtlCol="0" anchor="ctr"/>
          <a:lstStyle/>
          <a:p>
            <a:pPr marL="0" indent="0" algn="ctr">
              <a:buNone/>
            </a:pPr>
            <a:r>
              <a:rPr lang="en-US" sz="1400" b="1" dirty="0">
                <a:solidFill>
                  <a:schemeClr val="tx1"/>
                </a:solidFill>
              </a:rPr>
              <a:t>Humidity?</a:t>
            </a:r>
            <a:endParaRPr lang="en-US" sz="1400" dirty="0"/>
          </a:p>
        </p:txBody>
      </p:sp>
      <p:sp>
        <p:nvSpPr>
          <p:cNvPr id="12" name="Leaf overcast play"/>
          <p:cNvSpPr/>
          <p:nvPr/>
        </p:nvSpPr>
        <p:spPr>
          <a:xfrm>
            <a:off x="2423160" y="2468880"/>
            <a:ext cx="1005840" cy="457200"/>
          </a:xfrm>
          <a:prstGeom prst="roundRect">
            <a:avLst>
              <a:gd name="adj" fmla="val 20000"/>
            </a:avLst>
          </a:prstGeom>
          <a:solidFill>
            <a:schemeClr val="accent5">
              <a:lumMod val="10000"/>
            </a:schemeClr>
          </a:solidFill>
          <a:ln/>
        </p:spPr>
        <p:txBody>
          <a:bodyPr wrap="square" lIns="381" tIns="381" rIns="381" bIns="381" rtlCol="0" anchor="ctr"/>
          <a:lstStyle/>
          <a:p>
            <a:pPr marL="0" indent="0" algn="ctr">
              <a:buNone/>
            </a:pPr>
            <a:r>
              <a:rPr lang="en-US" sz="1400" b="1" dirty="0">
                <a:solidFill>
                  <a:schemeClr val="bg1"/>
                </a:solidFill>
              </a:rPr>
              <a:t>Play</a:t>
            </a:r>
            <a:endParaRPr lang="en-US" sz="1400" dirty="0"/>
          </a:p>
        </p:txBody>
      </p:sp>
      <p:sp>
        <p:nvSpPr>
          <p:cNvPr id="13" name="Node wind"/>
          <p:cNvSpPr/>
          <p:nvPr/>
        </p:nvSpPr>
        <p:spPr>
          <a:xfrm>
            <a:off x="3520440" y="2468880"/>
            <a:ext cx="1188720" cy="457200"/>
          </a:xfrm>
          <a:prstGeom prst="roundRect">
            <a:avLst>
              <a:gd name="adj" fmla="val 20000"/>
            </a:avLst>
          </a:prstGeom>
          <a:solidFill>
            <a:schemeClr val="bg2"/>
          </a:solidFill>
          <a:ln w="12700">
            <a:solidFill>
              <a:schemeClr val="accent3"/>
            </a:solidFill>
          </a:ln>
        </p:spPr>
        <p:txBody>
          <a:bodyPr wrap="square" lIns="381" tIns="381" rIns="381" bIns="381" rtlCol="0" anchor="ctr"/>
          <a:lstStyle/>
          <a:p>
            <a:pPr marL="0" indent="0" algn="ctr">
              <a:buNone/>
            </a:pPr>
            <a:r>
              <a:rPr lang="en-US" sz="1400" b="1" dirty="0">
                <a:solidFill>
                  <a:schemeClr val="tx1"/>
                </a:solidFill>
              </a:rPr>
              <a:t>Wind?</a:t>
            </a:r>
            <a:endParaRPr lang="en-US" sz="1400" dirty="0"/>
          </a:p>
        </p:txBody>
      </p:sp>
      <p:sp>
        <p:nvSpPr>
          <p:cNvPr id="14" name="Leaf stay 1"/>
          <p:cNvSpPr/>
          <p:nvPr/>
        </p:nvSpPr>
        <p:spPr>
          <a:xfrm>
            <a:off x="640080" y="3566160"/>
            <a:ext cx="1005840" cy="457200"/>
          </a:xfrm>
          <a:prstGeom prst="roundRect">
            <a:avLst>
              <a:gd name="adj" fmla="val 20000"/>
            </a:avLst>
          </a:prstGeom>
          <a:solidFill>
            <a:schemeClr val="tx1"/>
          </a:solidFill>
          <a:ln/>
        </p:spPr>
        <p:txBody>
          <a:bodyPr wrap="square" lIns="381" tIns="381" rIns="381" bIns="381" rtlCol="0" anchor="ctr"/>
          <a:lstStyle/>
          <a:p>
            <a:pPr marL="0" indent="0" algn="ctr">
              <a:buNone/>
            </a:pPr>
            <a:r>
              <a:rPr lang="en-US" sz="1400" b="1" dirty="0">
                <a:solidFill>
                  <a:schemeClr val="bg1"/>
                </a:solidFill>
              </a:rPr>
              <a:t>Stay in</a:t>
            </a:r>
            <a:endParaRPr lang="en-US" sz="1400" dirty="0"/>
          </a:p>
        </p:txBody>
      </p:sp>
      <p:sp>
        <p:nvSpPr>
          <p:cNvPr id="15" name="Leaf play 1"/>
          <p:cNvSpPr/>
          <p:nvPr/>
        </p:nvSpPr>
        <p:spPr>
          <a:xfrm>
            <a:off x="1828800" y="3566160"/>
            <a:ext cx="1005840" cy="457200"/>
          </a:xfrm>
          <a:prstGeom prst="roundRect">
            <a:avLst>
              <a:gd name="adj" fmla="val 20000"/>
            </a:avLst>
          </a:prstGeom>
          <a:solidFill>
            <a:schemeClr val="tx1"/>
          </a:solidFill>
          <a:ln/>
        </p:spPr>
        <p:txBody>
          <a:bodyPr wrap="square" lIns="381" tIns="381" rIns="381" bIns="381" rtlCol="0" anchor="ctr"/>
          <a:lstStyle/>
          <a:p>
            <a:pPr marL="0" indent="0" algn="ctr">
              <a:buNone/>
            </a:pPr>
            <a:r>
              <a:rPr lang="en-US" sz="1400" b="1" dirty="0">
                <a:solidFill>
                  <a:schemeClr val="bg1"/>
                </a:solidFill>
              </a:rPr>
              <a:t>Play</a:t>
            </a:r>
            <a:endParaRPr lang="en-US" sz="1400" dirty="0"/>
          </a:p>
        </p:txBody>
      </p:sp>
      <p:sp>
        <p:nvSpPr>
          <p:cNvPr id="16" name="Leaf stay 2"/>
          <p:cNvSpPr/>
          <p:nvPr/>
        </p:nvSpPr>
        <p:spPr>
          <a:xfrm>
            <a:off x="3017520" y="3566160"/>
            <a:ext cx="1005840" cy="457200"/>
          </a:xfrm>
          <a:prstGeom prst="roundRect">
            <a:avLst>
              <a:gd name="adj" fmla="val 20000"/>
            </a:avLst>
          </a:prstGeom>
          <a:solidFill>
            <a:schemeClr val="tx1"/>
          </a:solidFill>
          <a:ln/>
        </p:spPr>
        <p:txBody>
          <a:bodyPr wrap="square" lIns="381" tIns="381" rIns="381" bIns="381" rtlCol="0" anchor="ctr"/>
          <a:lstStyle/>
          <a:p>
            <a:pPr marL="0" indent="0" algn="ctr">
              <a:buNone/>
            </a:pPr>
            <a:r>
              <a:rPr lang="en-US" sz="1400" b="1" dirty="0">
                <a:solidFill>
                  <a:schemeClr val="bg1"/>
                </a:solidFill>
              </a:rPr>
              <a:t>Stay in</a:t>
            </a:r>
            <a:endParaRPr lang="en-US" sz="1400" dirty="0"/>
          </a:p>
        </p:txBody>
      </p:sp>
      <p:sp>
        <p:nvSpPr>
          <p:cNvPr id="17" name="Leaf play 2"/>
          <p:cNvSpPr/>
          <p:nvPr/>
        </p:nvSpPr>
        <p:spPr>
          <a:xfrm>
            <a:off x="4206240" y="3566160"/>
            <a:ext cx="1005840" cy="457200"/>
          </a:xfrm>
          <a:prstGeom prst="roundRect">
            <a:avLst>
              <a:gd name="adj" fmla="val 20000"/>
            </a:avLst>
          </a:prstGeom>
          <a:solidFill>
            <a:schemeClr val="tx1"/>
          </a:solidFill>
          <a:ln/>
        </p:spPr>
        <p:txBody>
          <a:bodyPr wrap="square" lIns="381" tIns="381" rIns="381" bIns="381" rtlCol="0" anchor="ctr"/>
          <a:lstStyle/>
          <a:p>
            <a:pPr marL="0" indent="0" algn="ctr">
              <a:buNone/>
            </a:pPr>
            <a:r>
              <a:rPr lang="en-US" sz="1400" b="1" dirty="0">
                <a:solidFill>
                  <a:schemeClr val="bg1"/>
                </a:solidFill>
              </a:rPr>
              <a:t>Play</a:t>
            </a:r>
            <a:endParaRPr lang="en-US" sz="1400" dirty="0"/>
          </a:p>
        </p:txBody>
      </p:sp>
      <p:sp>
        <p:nvSpPr>
          <p:cNvPr id="18" name="Label sunny"/>
          <p:cNvSpPr txBox="1"/>
          <p:nvPr/>
        </p:nvSpPr>
        <p:spPr>
          <a:xfrm>
            <a:off x="1901952" y="2130552"/>
            <a:ext cx="50292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Sunny</a:t>
            </a:r>
            <a:endParaRPr lang="en-US" sz="1200" dirty="0"/>
          </a:p>
        </p:txBody>
      </p:sp>
      <p:sp>
        <p:nvSpPr>
          <p:cNvPr id="19" name="Label overcast"/>
          <p:cNvSpPr txBox="1"/>
          <p:nvPr/>
        </p:nvSpPr>
        <p:spPr>
          <a:xfrm>
            <a:off x="2560320" y="1943100"/>
            <a:ext cx="73152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Overcast</a:t>
            </a:r>
            <a:endParaRPr lang="en-US" sz="1200" dirty="0"/>
          </a:p>
        </p:txBody>
      </p:sp>
      <p:sp>
        <p:nvSpPr>
          <p:cNvPr id="20" name="Label rain"/>
          <p:cNvSpPr txBox="1"/>
          <p:nvPr/>
        </p:nvSpPr>
        <p:spPr>
          <a:xfrm>
            <a:off x="3493008" y="2130552"/>
            <a:ext cx="41148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Rain</a:t>
            </a:r>
            <a:endParaRPr lang="en-US" sz="1200" dirty="0"/>
          </a:p>
        </p:txBody>
      </p:sp>
      <p:sp>
        <p:nvSpPr>
          <p:cNvPr id="21" name="Label high"/>
          <p:cNvSpPr txBox="1"/>
          <p:nvPr/>
        </p:nvSpPr>
        <p:spPr>
          <a:xfrm>
            <a:off x="1122426" y="3227832"/>
            <a:ext cx="45720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High</a:t>
            </a:r>
            <a:endParaRPr lang="en-US" sz="1200" dirty="0"/>
          </a:p>
        </p:txBody>
      </p:sp>
      <p:sp>
        <p:nvSpPr>
          <p:cNvPr id="22" name="Label normal"/>
          <p:cNvSpPr txBox="1"/>
          <p:nvPr/>
        </p:nvSpPr>
        <p:spPr>
          <a:xfrm>
            <a:off x="1803654" y="3227832"/>
            <a:ext cx="64008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Normal</a:t>
            </a:r>
            <a:endParaRPr lang="en-US" sz="1200" dirty="0"/>
          </a:p>
        </p:txBody>
      </p:sp>
      <p:sp>
        <p:nvSpPr>
          <p:cNvPr id="23" name="Label strong"/>
          <p:cNvSpPr txBox="1"/>
          <p:nvPr/>
        </p:nvSpPr>
        <p:spPr>
          <a:xfrm>
            <a:off x="3408426" y="3227832"/>
            <a:ext cx="64008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Strong</a:t>
            </a:r>
            <a:endParaRPr lang="en-US" sz="1200" dirty="0"/>
          </a:p>
        </p:txBody>
      </p:sp>
      <p:sp>
        <p:nvSpPr>
          <p:cNvPr id="24" name="Label weak"/>
          <p:cNvSpPr txBox="1"/>
          <p:nvPr/>
        </p:nvSpPr>
        <p:spPr>
          <a:xfrm>
            <a:off x="4249674" y="3227832"/>
            <a:ext cx="502920" cy="228600"/>
          </a:xfrm>
          <a:prstGeom prst="rect">
            <a:avLst/>
          </a:prstGeom>
          <a:solidFill>
            <a:schemeClr val="bg1"/>
          </a:solidFill>
          <a:ln/>
        </p:spPr>
        <p:txBody>
          <a:bodyPr wrap="square" lIns="0" tIns="0" rIns="0" bIns="0" rtlCol="0" anchor="ctr"/>
          <a:lstStyle/>
          <a:p>
            <a:pPr marL="0" indent="0" algn="ctr">
              <a:buNone/>
            </a:pPr>
            <a:r>
              <a:rPr lang="en-US" sz="1200" dirty="0">
                <a:solidFill>
                  <a:schemeClr val="accent2"/>
                </a:solidFill>
              </a:rPr>
              <a:t>Weak</a:t>
            </a:r>
            <a:endParaRPr lang="en-US" sz="1200" dirty="0"/>
          </a:p>
        </p:txBody>
      </p:sp>
      <p:sp>
        <p:nvSpPr>
          <p:cNvPr id="25" name="Representation notes"/>
          <p:cNvSpPr txBox="1"/>
          <p:nvPr/>
        </p:nvSpPr>
        <p:spPr>
          <a:xfrm>
            <a:off x="5669280" y="1325880"/>
            <a:ext cx="2926080" cy="3200400"/>
          </a:xfrm>
          <a:prstGeom prst="rect">
            <a:avLst/>
          </a:prstGeom>
          <a:noFill/>
          <a:ln/>
        </p:spPr>
        <p:txBody>
          <a:bodyPr wrap="square" lIns="0" tIns="0" rIns="0" bIns="0" rtlCol="0" anchor="t"/>
          <a:lstStyle/>
          <a:p>
            <a:pPr marL="0" indent="0">
              <a:buNone/>
            </a:pPr>
            <a:r>
              <a:rPr lang="en-US" sz="1600" b="1" dirty="0">
                <a:solidFill>
                  <a:schemeClr val="tx1"/>
                </a:solidFill>
              </a:rPr>
              <a:t>Nodes ask questions</a:t>
            </a:r>
            <a:endParaRPr lang="en-US" sz="1600" dirty="0"/>
          </a:p>
          <a:p>
            <a:pPr marL="0" indent="0">
              <a:spcAft>
                <a:spcPts val="1200"/>
              </a:spcAft>
              <a:buNone/>
            </a:pPr>
            <a:r>
              <a:rPr lang="en-US" sz="1400" dirty="0">
                <a:solidFill>
                  <a:schemeClr val="tx1"/>
                </a:solidFill>
              </a:rPr>
              <a:t>Each one checks a single feature, like Outlook or Humidity.</a:t>
            </a:r>
            <a:endParaRPr lang="en-US" sz="1600" dirty="0"/>
          </a:p>
          <a:p>
            <a:pPr marL="0" indent="0">
              <a:buNone/>
            </a:pPr>
            <a:r>
              <a:rPr lang="en-US" sz="1600" b="1" dirty="0">
                <a:solidFill>
                  <a:schemeClr val="tx1"/>
                </a:solidFill>
              </a:rPr>
              <a:t>Branches carry answers</a:t>
            </a:r>
            <a:endParaRPr lang="en-US" sz="1600" dirty="0"/>
          </a:p>
          <a:p>
            <a:pPr marL="0" indent="0">
              <a:spcAft>
                <a:spcPts val="1200"/>
              </a:spcAft>
              <a:buNone/>
            </a:pPr>
            <a:r>
              <a:rPr lang="en-US" sz="1400" dirty="0">
                <a:solidFill>
                  <a:schemeClr val="tx1"/>
                </a:solidFill>
              </a:rPr>
              <a:t>Every possible answer gets its own path downward.</a:t>
            </a:r>
            <a:endParaRPr lang="en-US" sz="1600" dirty="0"/>
          </a:p>
          <a:p>
            <a:pPr marL="0" indent="0">
              <a:buNone/>
            </a:pPr>
            <a:r>
              <a:rPr lang="en-US" sz="1600" b="1" dirty="0">
                <a:solidFill>
                  <a:schemeClr val="tx1"/>
                </a:solidFill>
              </a:rPr>
              <a:t>Leaves give the decision</a:t>
            </a:r>
            <a:endParaRPr lang="en-US" sz="1600" dirty="0"/>
          </a:p>
          <a:p>
            <a:pPr marL="0" indent="0">
              <a:spcAft>
                <a:spcPts val="1400"/>
              </a:spcAft>
              <a:buNone/>
            </a:pPr>
            <a:r>
              <a:rPr lang="en-US" sz="1400" dirty="0">
                <a:solidFill>
                  <a:schemeClr val="tx1"/>
                </a:solidFill>
              </a:rPr>
              <a:t>The final label, such as Play.</a:t>
            </a:r>
            <a:endParaRPr lang="en-US" sz="1600" dirty="0"/>
          </a:p>
          <a:p>
            <a:pPr marL="0" indent="0">
              <a:buNone/>
            </a:pPr>
            <a:r>
              <a:rPr lang="en-US" sz="1400" i="1" dirty="0">
                <a:solidFill>
                  <a:schemeClr val="accent2"/>
                </a:solidFill>
              </a:rPr>
              <a:t>Follow one path from top to bottom and you get a plain if-then rule.</a:t>
            </a:r>
            <a:endParaRPr lang="en-US" sz="1600" dirty="0"/>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How a tree gets built</a:t>
            </a:r>
            <a:endParaRPr lang="en-US" sz="3600" dirty="0"/>
          </a:p>
        </p:txBody>
      </p:sp>
      <p:sp>
        <p:nvSpPr>
          <p:cNvPr id="3" name="Step card 1"/>
          <p:cNvSpPr/>
          <p:nvPr/>
        </p:nvSpPr>
        <p:spPr>
          <a:xfrm>
            <a:off x="548640" y="1325880"/>
            <a:ext cx="1828800" cy="2606040"/>
          </a:xfrm>
          <a:prstGeom prst="rect">
            <a:avLst/>
          </a:prstGeom>
          <a:solidFill>
            <a:schemeClr val="bg2"/>
          </a:solidFill>
          <a:ln/>
        </p:spPr>
      </p:sp>
      <p:sp>
        <p:nvSpPr>
          <p:cNvPr id="4" name="Step number 1"/>
          <p:cNvSpPr/>
          <p:nvPr/>
        </p:nvSpPr>
        <p:spPr>
          <a:xfrm>
            <a:off x="731520" y="1508760"/>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Step title 1"/>
          <p:cNvSpPr txBox="1"/>
          <p:nvPr/>
        </p:nvSpPr>
        <p:spPr>
          <a:xfrm>
            <a:off x="731520" y="2103120"/>
            <a:ext cx="1463040" cy="594360"/>
          </a:xfrm>
          <a:prstGeom prst="rect">
            <a:avLst/>
          </a:prstGeom>
          <a:noFill/>
          <a:ln/>
        </p:spPr>
        <p:txBody>
          <a:bodyPr wrap="square" lIns="0" tIns="0" rIns="0" bIns="0" rtlCol="0" anchor="t"/>
          <a:lstStyle/>
          <a:p>
            <a:pPr marL="0" indent="0">
              <a:buNone/>
            </a:pPr>
            <a:r>
              <a:rPr lang="en-US" sz="1800" b="1" dirty="0">
                <a:solidFill>
                  <a:schemeClr val="tx1"/>
                </a:solidFill>
              </a:rPr>
              <a:t>Start with everything</a:t>
            </a:r>
            <a:endParaRPr lang="en-US" sz="1800" dirty="0"/>
          </a:p>
        </p:txBody>
      </p:sp>
      <p:sp>
        <p:nvSpPr>
          <p:cNvPr id="6" name="Step text 1"/>
          <p:cNvSpPr txBox="1"/>
          <p:nvPr/>
        </p:nvSpPr>
        <p:spPr>
          <a:xfrm>
            <a:off x="731520" y="2743200"/>
            <a:ext cx="1463040" cy="1051560"/>
          </a:xfrm>
          <a:prstGeom prst="rect">
            <a:avLst/>
          </a:prstGeom>
          <a:noFill/>
          <a:ln/>
        </p:spPr>
        <p:txBody>
          <a:bodyPr wrap="square" lIns="0" tIns="0" rIns="0" bIns="0" rtlCol="0" anchor="t"/>
          <a:lstStyle/>
          <a:p>
            <a:pPr marL="0" indent="0">
              <a:buNone/>
            </a:pPr>
            <a:r>
              <a:rPr lang="en-US" sz="1400" dirty="0">
                <a:solidFill>
                  <a:schemeClr val="tx1"/>
                </a:solidFill>
              </a:rPr>
              <a:t>Put all the training examples in one pile at the top.</a:t>
            </a:r>
            <a:endParaRPr lang="en-US" sz="1400" dirty="0"/>
          </a:p>
        </p:txBody>
      </p:sp>
      <p:sp>
        <p:nvSpPr>
          <p:cNvPr id="7" name="Step card 2"/>
          <p:cNvSpPr/>
          <p:nvPr/>
        </p:nvSpPr>
        <p:spPr>
          <a:xfrm>
            <a:off x="2621585" y="1325880"/>
            <a:ext cx="1828800" cy="2606040"/>
          </a:xfrm>
          <a:prstGeom prst="rect">
            <a:avLst/>
          </a:prstGeom>
          <a:solidFill>
            <a:schemeClr val="bg2"/>
          </a:solidFill>
          <a:ln/>
        </p:spPr>
      </p:sp>
      <p:sp>
        <p:nvSpPr>
          <p:cNvPr id="8" name="Step number 2"/>
          <p:cNvSpPr/>
          <p:nvPr/>
        </p:nvSpPr>
        <p:spPr>
          <a:xfrm>
            <a:off x="2804465" y="1508760"/>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Step title 2"/>
          <p:cNvSpPr txBox="1"/>
          <p:nvPr/>
        </p:nvSpPr>
        <p:spPr>
          <a:xfrm>
            <a:off x="2804465" y="2103120"/>
            <a:ext cx="1463040" cy="594360"/>
          </a:xfrm>
          <a:prstGeom prst="rect">
            <a:avLst/>
          </a:prstGeom>
          <a:noFill/>
          <a:ln/>
        </p:spPr>
        <p:txBody>
          <a:bodyPr wrap="square" lIns="0" tIns="0" rIns="0" bIns="0" rtlCol="0" anchor="t"/>
          <a:lstStyle/>
          <a:p>
            <a:pPr marL="0" indent="0">
              <a:buNone/>
            </a:pPr>
            <a:r>
              <a:rPr lang="en-US" sz="1800" b="1" dirty="0">
                <a:solidFill>
                  <a:schemeClr val="tx1"/>
                </a:solidFill>
              </a:rPr>
              <a:t>Ask the best question</a:t>
            </a:r>
            <a:endParaRPr lang="en-US" sz="1800" dirty="0"/>
          </a:p>
        </p:txBody>
      </p:sp>
      <p:sp>
        <p:nvSpPr>
          <p:cNvPr id="10" name="Step text 2"/>
          <p:cNvSpPr txBox="1"/>
          <p:nvPr/>
        </p:nvSpPr>
        <p:spPr>
          <a:xfrm>
            <a:off x="2804465" y="2743200"/>
            <a:ext cx="1463040" cy="1051560"/>
          </a:xfrm>
          <a:prstGeom prst="rect">
            <a:avLst/>
          </a:prstGeom>
          <a:noFill/>
          <a:ln/>
        </p:spPr>
        <p:txBody>
          <a:bodyPr wrap="square" lIns="0" tIns="0" rIns="0" bIns="0" rtlCol="0" anchor="t"/>
          <a:lstStyle/>
          <a:p>
            <a:pPr marL="0" indent="0">
              <a:buNone/>
            </a:pPr>
            <a:r>
              <a:rPr lang="en-US" sz="1400" dirty="0">
                <a:solidFill>
                  <a:schemeClr val="tx1"/>
                </a:solidFill>
              </a:rPr>
              <a:t>Try each feature and keep the one that sorts the pile most cleanly.</a:t>
            </a:r>
            <a:endParaRPr lang="en-US" sz="1400" dirty="0"/>
          </a:p>
        </p:txBody>
      </p:sp>
      <p:sp>
        <p:nvSpPr>
          <p:cNvPr id="11" name="Step card 3"/>
          <p:cNvSpPr/>
          <p:nvPr/>
        </p:nvSpPr>
        <p:spPr>
          <a:xfrm>
            <a:off x="4694530" y="1325880"/>
            <a:ext cx="1828800" cy="2606040"/>
          </a:xfrm>
          <a:prstGeom prst="rect">
            <a:avLst/>
          </a:prstGeom>
          <a:solidFill>
            <a:schemeClr val="bg2"/>
          </a:solidFill>
          <a:ln/>
        </p:spPr>
      </p:sp>
      <p:sp>
        <p:nvSpPr>
          <p:cNvPr id="12" name="Step number 3"/>
          <p:cNvSpPr/>
          <p:nvPr/>
        </p:nvSpPr>
        <p:spPr>
          <a:xfrm>
            <a:off x="4877410" y="1508760"/>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Step title 3"/>
          <p:cNvSpPr txBox="1"/>
          <p:nvPr/>
        </p:nvSpPr>
        <p:spPr>
          <a:xfrm>
            <a:off x="4877410" y="2103120"/>
            <a:ext cx="1463040" cy="594360"/>
          </a:xfrm>
          <a:prstGeom prst="rect">
            <a:avLst/>
          </a:prstGeom>
          <a:noFill/>
          <a:ln/>
        </p:spPr>
        <p:txBody>
          <a:bodyPr wrap="square" lIns="0" tIns="0" rIns="0" bIns="0" rtlCol="0" anchor="t"/>
          <a:lstStyle/>
          <a:p>
            <a:pPr marL="0" indent="0">
              <a:buNone/>
            </a:pPr>
            <a:r>
              <a:rPr lang="en-US" sz="1800" b="1" dirty="0">
                <a:solidFill>
                  <a:schemeClr val="tx1"/>
                </a:solidFill>
              </a:rPr>
              <a:t>Split the pile</a:t>
            </a:r>
            <a:endParaRPr lang="en-US" sz="1800" dirty="0"/>
          </a:p>
        </p:txBody>
      </p:sp>
      <p:sp>
        <p:nvSpPr>
          <p:cNvPr id="14" name="Step text 3"/>
          <p:cNvSpPr txBox="1"/>
          <p:nvPr/>
        </p:nvSpPr>
        <p:spPr>
          <a:xfrm>
            <a:off x="4877410" y="2743200"/>
            <a:ext cx="1463040" cy="1051560"/>
          </a:xfrm>
          <a:prstGeom prst="rect">
            <a:avLst/>
          </a:prstGeom>
          <a:noFill/>
          <a:ln/>
        </p:spPr>
        <p:txBody>
          <a:bodyPr wrap="square" lIns="0" tIns="0" rIns="0" bIns="0" rtlCol="0" anchor="t"/>
          <a:lstStyle/>
          <a:p>
            <a:pPr marL="0" indent="0">
              <a:buNone/>
            </a:pPr>
            <a:r>
              <a:rPr lang="en-US" sz="1400" dirty="0">
                <a:solidFill>
                  <a:schemeClr val="tx1"/>
                </a:solidFill>
              </a:rPr>
              <a:t>Send each example down the branch that matches its answer.</a:t>
            </a:r>
            <a:endParaRPr lang="en-US" sz="1400" dirty="0"/>
          </a:p>
        </p:txBody>
      </p:sp>
      <p:sp>
        <p:nvSpPr>
          <p:cNvPr id="15" name="Step card 4"/>
          <p:cNvSpPr/>
          <p:nvPr/>
        </p:nvSpPr>
        <p:spPr>
          <a:xfrm>
            <a:off x="6767474" y="1325880"/>
            <a:ext cx="1828800" cy="2606040"/>
          </a:xfrm>
          <a:prstGeom prst="rect">
            <a:avLst/>
          </a:prstGeom>
          <a:solidFill>
            <a:schemeClr val="bg2"/>
          </a:solidFill>
          <a:ln/>
        </p:spPr>
      </p:sp>
      <p:sp>
        <p:nvSpPr>
          <p:cNvPr id="16" name="Step number 4"/>
          <p:cNvSpPr/>
          <p:nvPr/>
        </p:nvSpPr>
        <p:spPr>
          <a:xfrm>
            <a:off x="6950354" y="1508760"/>
            <a:ext cx="457200" cy="45720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Step title 4"/>
          <p:cNvSpPr txBox="1"/>
          <p:nvPr/>
        </p:nvSpPr>
        <p:spPr>
          <a:xfrm>
            <a:off x="6950354" y="2103120"/>
            <a:ext cx="1463040" cy="594360"/>
          </a:xfrm>
          <a:prstGeom prst="rect">
            <a:avLst/>
          </a:prstGeom>
          <a:noFill/>
          <a:ln/>
        </p:spPr>
        <p:txBody>
          <a:bodyPr wrap="square" lIns="0" tIns="0" rIns="0" bIns="0" rtlCol="0" anchor="t"/>
          <a:lstStyle/>
          <a:p>
            <a:pPr marL="0" indent="0">
              <a:buNone/>
            </a:pPr>
            <a:r>
              <a:rPr lang="en-US" sz="1800" b="1" dirty="0">
                <a:solidFill>
                  <a:schemeClr val="tx1"/>
                </a:solidFill>
              </a:rPr>
              <a:t>Repeat, then stop</a:t>
            </a:r>
            <a:endParaRPr lang="en-US" sz="1800" dirty="0"/>
          </a:p>
        </p:txBody>
      </p:sp>
      <p:sp>
        <p:nvSpPr>
          <p:cNvPr id="18" name="Step text 4"/>
          <p:cNvSpPr txBox="1"/>
          <p:nvPr/>
        </p:nvSpPr>
        <p:spPr>
          <a:xfrm>
            <a:off x="6950354" y="2743200"/>
            <a:ext cx="1463040" cy="1051560"/>
          </a:xfrm>
          <a:prstGeom prst="rect">
            <a:avLst/>
          </a:prstGeom>
          <a:noFill/>
          <a:ln/>
        </p:spPr>
        <p:txBody>
          <a:bodyPr wrap="square" lIns="0" tIns="0" rIns="0" bIns="0" rtlCol="0" anchor="t"/>
          <a:lstStyle/>
          <a:p>
            <a:pPr marL="0" indent="0">
              <a:buNone/>
            </a:pPr>
            <a:r>
              <a:rPr lang="en-US" sz="1400" dirty="0">
                <a:solidFill>
                  <a:schemeClr val="tx1"/>
                </a:solidFill>
              </a:rPr>
              <a:t>Do the same in every smaller pile until it is pure or too small.</a:t>
            </a:r>
            <a:endParaRPr lang="en-US" sz="1400" dirty="0"/>
          </a:p>
        </p:txBody>
      </p:sp>
      <p:sp>
        <p:nvSpPr>
          <p:cNvPr id="19" name="Algorithm names"/>
          <p:cNvSpPr txBox="1"/>
          <p:nvPr/>
        </p:nvSpPr>
        <p:spPr>
          <a:xfrm>
            <a:off x="548640" y="4114800"/>
            <a:ext cx="8046720" cy="502920"/>
          </a:xfrm>
          <a:prstGeom prst="rect">
            <a:avLst/>
          </a:prstGeom>
          <a:noFill/>
          <a:ln/>
        </p:spPr>
        <p:txBody>
          <a:bodyPr wrap="square" lIns="0" tIns="0" rIns="0" bIns="0" rtlCol="0" anchor="t"/>
          <a:lstStyle/>
          <a:p>
            <a:pPr marL="0" indent="0">
              <a:buNone/>
            </a:pPr>
            <a:r>
              <a:rPr lang="en-US" sz="1400" b="1" dirty="0">
                <a:solidFill>
                  <a:schemeClr val="tx1"/>
                </a:solidFill>
              </a:rPr>
              <a:t>Well-known versions: </a:t>
            </a:r>
            <a:r>
              <a:rPr lang="en-US" sz="1400" dirty="0">
                <a:solidFill>
                  <a:schemeClr val="tx1"/>
                </a:solidFill>
              </a:rPr>
              <a:t>ID3 and C4.5 pick questions using information gain. CART uses a similar score called Gini.</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Entropy: how mixed up is it?</a:t>
            </a:r>
            <a:endParaRPr lang="en-US" sz="3600" dirty="0"/>
          </a:p>
        </p:txBody>
      </p:sp>
      <p:graphicFrame>
        <p:nvGraphicFramePr>
          <p:cNvPr id="3" name="Chart 0"/>
          <p:cNvGraphicFramePr/>
          <p:nvPr/>
        </p:nvGraphicFramePr>
        <p:xfrm>
          <a:off x="548640" y="1280160"/>
          <a:ext cx="48463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Entropy explanation"/>
          <p:cNvSpPr txBox="1"/>
          <p:nvPr/>
        </p:nvSpPr>
        <p:spPr>
          <a:xfrm>
            <a:off x="5669280" y="1325880"/>
            <a:ext cx="2926080" cy="1737360"/>
          </a:xfrm>
          <a:prstGeom prst="rect">
            <a:avLst/>
          </a:prstGeom>
          <a:noFill/>
          <a:ln/>
        </p:spPr>
        <p:txBody>
          <a:bodyPr wrap="square" lIns="0" tIns="0" rIns="0" bIns="0" rtlCol="0" anchor="t"/>
          <a:lstStyle/>
          <a:p>
            <a:pPr marL="0" indent="0">
              <a:spcAft>
                <a:spcPts val="1000"/>
              </a:spcAft>
              <a:buNone/>
            </a:pPr>
            <a:r>
              <a:rPr lang="en-US" sz="1600" b="1" dirty="0">
                <a:solidFill>
                  <a:schemeClr val="tx1"/>
                </a:solidFill>
              </a:rPr>
              <a:t>Entropy tells us how mixed up a group is.</a:t>
            </a:r>
            <a:endParaRPr lang="en-US" sz="1600" dirty="0"/>
          </a:p>
          <a:p>
            <a:pPr marL="0" indent="0">
              <a:spcAft>
                <a:spcPts val="600"/>
              </a:spcAft>
              <a:buNone/>
            </a:pPr>
            <a:r>
              <a:rPr lang="en-US" sz="1400" dirty="0">
                <a:solidFill>
                  <a:schemeClr val="tx1"/>
                </a:solidFill>
              </a:rPr>
              <a:t>All one answer: entropy is 0. Nothing left to sort.</a:t>
            </a:r>
            <a:endParaRPr lang="en-US" sz="1600" dirty="0"/>
          </a:p>
          <a:p>
            <a:pPr marL="0" indent="0">
              <a:buNone/>
            </a:pPr>
            <a:r>
              <a:rPr lang="en-US" sz="1400" dirty="0">
                <a:solidFill>
                  <a:schemeClr val="tx1"/>
                </a:solidFill>
              </a:rPr>
              <a:t>Split 50/50: entropy is 1. Maximum confusion.</a:t>
            </a:r>
            <a:endParaRPr lang="en-US" sz="1600" dirty="0"/>
          </a:p>
        </p:txBody>
      </p:sp>
      <p:sp>
        <p:nvSpPr>
          <p:cNvPr id="5" name="Formula card"/>
          <p:cNvSpPr/>
          <p:nvPr/>
        </p:nvSpPr>
        <p:spPr>
          <a:xfrm>
            <a:off x="5669280" y="3246120"/>
            <a:ext cx="2926080" cy="1234440"/>
          </a:xfrm>
          <a:prstGeom prst="rect">
            <a:avLst/>
          </a:prstGeom>
          <a:solidFill>
            <a:schemeClr val="bg2"/>
          </a:solidFill>
          <a:ln/>
        </p:spPr>
      </p:sp>
      <p:sp>
        <p:nvSpPr>
          <p:cNvPr id="6" name="Formula text"/>
          <p:cNvSpPr txBox="1"/>
          <p:nvPr/>
        </p:nvSpPr>
        <p:spPr>
          <a:xfrm>
            <a:off x="5852160" y="3337560"/>
            <a:ext cx="2560320" cy="1051560"/>
          </a:xfrm>
          <a:prstGeom prst="rect">
            <a:avLst/>
          </a:prstGeom>
          <a:noFill/>
          <a:ln/>
        </p:spPr>
        <p:txBody>
          <a:bodyPr wrap="square" lIns="0" tIns="0" rIns="0" bIns="0" rtlCol="0" anchor="ctr"/>
          <a:lstStyle/>
          <a:p>
            <a:pPr marL="0" indent="0">
              <a:spcAft>
                <a:spcPts val="600"/>
              </a:spcAft>
              <a:buNone/>
            </a:pPr>
            <a:r>
              <a:rPr lang="en-US" sz="1800" b="1" dirty="0">
                <a:solidFill>
                  <a:schemeClr val="tx1"/>
                </a:solidFill>
              </a:rPr>
              <a:t>Entropy = −Σ p × log₂(p)</a:t>
            </a:r>
            <a:endParaRPr lang="en-US" sz="1800" dirty="0"/>
          </a:p>
          <a:p>
            <a:pPr marL="0" indent="0">
              <a:buNone/>
            </a:pPr>
            <a:r>
              <a:rPr lang="en-US" sz="1200" dirty="0">
                <a:solidFill>
                  <a:schemeClr val="accent2"/>
                </a:solidFill>
              </a:rPr>
              <a:t>p is the share of each answer in the group</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Picking the best question</a:t>
            </a:r>
            <a:endParaRPr lang="en-US" sz="3600" dirty="0"/>
          </a:p>
        </p:txBody>
      </p:sp>
      <p:sp>
        <p:nvSpPr>
          <p:cNvPr id="3" name="Gain definition"/>
          <p:cNvSpPr txBox="1"/>
          <p:nvPr/>
        </p:nvSpPr>
        <p:spPr>
          <a:xfrm>
            <a:off x="548640" y="1234440"/>
            <a:ext cx="8046720" cy="365760"/>
          </a:xfrm>
          <a:prstGeom prst="rect">
            <a:avLst/>
          </a:prstGeom>
          <a:noFill/>
          <a:ln/>
        </p:spPr>
        <p:txBody>
          <a:bodyPr wrap="square" lIns="0" tIns="0" rIns="0" bIns="0" rtlCol="0" anchor="ctr"/>
          <a:lstStyle/>
          <a:p>
            <a:pPr marL="0" indent="0">
              <a:buNone/>
            </a:pPr>
            <a:r>
              <a:rPr lang="en-US" sz="1800" b="1" dirty="0">
                <a:solidFill>
                  <a:schemeClr val="tx1"/>
                </a:solidFill>
              </a:rPr>
              <a:t>Information gain = entropy before a split − entropy after it</a:t>
            </a:r>
            <a:endParaRPr lang="en-US" sz="1800" dirty="0"/>
          </a:p>
        </p:txBody>
      </p:sp>
      <p:sp>
        <p:nvSpPr>
          <p:cNvPr id="4" name="Gain subtitle"/>
          <p:cNvSpPr txBox="1"/>
          <p:nvPr/>
        </p:nvSpPr>
        <p:spPr>
          <a:xfrm>
            <a:off x="548640" y="1645920"/>
            <a:ext cx="8046720" cy="320040"/>
          </a:xfrm>
          <a:prstGeom prst="rect">
            <a:avLst/>
          </a:prstGeom>
          <a:noFill/>
          <a:ln/>
        </p:spPr>
        <p:txBody>
          <a:bodyPr wrap="square" lIns="0" tIns="0" rIns="0" bIns="0" rtlCol="0" anchor="ctr"/>
          <a:lstStyle/>
          <a:p>
            <a:pPr marL="0" indent="0">
              <a:buNone/>
            </a:pPr>
            <a:r>
              <a:rPr lang="en-US" sz="1400" dirty="0">
                <a:solidFill>
                  <a:schemeClr val="accent2"/>
                </a:solidFill>
              </a:rPr>
              <a:t>A bigger drop means a better question. Example: 14 days, 9 "play" and 5 "stay in".</a:t>
            </a:r>
            <a:endParaRPr lang="en-US" sz="1400" dirty="0"/>
          </a:p>
        </p:txBody>
      </p:sp>
      <p:sp>
        <p:nvSpPr>
          <p:cNvPr id="5" name="Gain card 1"/>
          <p:cNvSpPr/>
          <p:nvPr/>
        </p:nvSpPr>
        <p:spPr>
          <a:xfrm>
            <a:off x="548640" y="2240280"/>
            <a:ext cx="2286000" cy="1463040"/>
          </a:xfrm>
          <a:prstGeom prst="rect">
            <a:avLst/>
          </a:prstGeom>
          <a:solidFill>
            <a:schemeClr val="bg2"/>
          </a:solidFill>
          <a:ln/>
        </p:spPr>
      </p:sp>
      <p:sp>
        <p:nvSpPr>
          <p:cNvPr id="6" name="Gain number 1"/>
          <p:cNvSpPr txBox="1"/>
          <p:nvPr/>
        </p:nvSpPr>
        <p:spPr>
          <a:xfrm>
            <a:off x="731520" y="2331720"/>
            <a:ext cx="1920240" cy="731520"/>
          </a:xfrm>
          <a:prstGeom prst="rect">
            <a:avLst/>
          </a:prstGeom>
          <a:noFill/>
          <a:ln/>
        </p:spPr>
        <p:txBody>
          <a:bodyPr wrap="square" lIns="0" tIns="0" rIns="0" bIns="0" rtlCol="0" anchor="ctr"/>
          <a:lstStyle/>
          <a:p>
            <a:pPr marL="0" indent="0" algn="l">
              <a:buNone/>
            </a:pPr>
            <a:r>
              <a:rPr lang="en-US" sz="4400" b="1" dirty="0">
                <a:solidFill>
                  <a:schemeClr val="bg2">
                    <a:lumMod val="10000"/>
                  </a:schemeClr>
                </a:solidFill>
              </a:rPr>
              <a:t>0.94</a:t>
            </a:r>
            <a:endParaRPr lang="en-US" sz="4400" dirty="0">
              <a:solidFill>
                <a:schemeClr val="bg2">
                  <a:lumMod val="10000"/>
                </a:schemeClr>
              </a:solidFill>
            </a:endParaRPr>
          </a:p>
        </p:txBody>
      </p:sp>
      <p:sp>
        <p:nvSpPr>
          <p:cNvPr id="7" name="Gain label 1"/>
          <p:cNvSpPr txBox="1"/>
          <p:nvPr/>
        </p:nvSpPr>
        <p:spPr>
          <a:xfrm>
            <a:off x="731520" y="3063240"/>
            <a:ext cx="1920240" cy="548640"/>
          </a:xfrm>
          <a:prstGeom prst="rect">
            <a:avLst/>
          </a:prstGeom>
          <a:noFill/>
          <a:ln/>
        </p:spPr>
        <p:txBody>
          <a:bodyPr wrap="square" lIns="0" tIns="0" rIns="0" bIns="0" rtlCol="0" anchor="t"/>
          <a:lstStyle/>
          <a:p>
            <a:pPr marL="0" indent="0" algn="l">
              <a:buNone/>
            </a:pPr>
            <a:r>
              <a:rPr lang="en-US" sz="1400" dirty="0">
                <a:solidFill>
                  <a:schemeClr val="tx1"/>
                </a:solidFill>
              </a:rPr>
              <a:t>Entropy before</a:t>
            </a:r>
            <a:endParaRPr lang="en-US" sz="1400" dirty="0"/>
          </a:p>
          <a:p>
            <a:pPr marL="0" indent="0" algn="l">
              <a:buNone/>
            </a:pPr>
            <a:r>
              <a:rPr lang="en-US" sz="1400" dirty="0">
                <a:solidFill>
                  <a:schemeClr val="tx1"/>
                </a:solidFill>
              </a:rPr>
              <a:t>(9 play, 5 stay in)</a:t>
            </a:r>
            <a:endParaRPr lang="en-US" sz="1400" dirty="0"/>
          </a:p>
        </p:txBody>
      </p:sp>
      <p:sp>
        <p:nvSpPr>
          <p:cNvPr id="8" name="Gain card 2"/>
          <p:cNvSpPr/>
          <p:nvPr/>
        </p:nvSpPr>
        <p:spPr>
          <a:xfrm>
            <a:off x="3429000" y="2240280"/>
            <a:ext cx="2286000" cy="1463040"/>
          </a:xfrm>
          <a:prstGeom prst="rect">
            <a:avLst/>
          </a:prstGeom>
          <a:solidFill>
            <a:schemeClr val="bg2"/>
          </a:solidFill>
          <a:ln/>
        </p:spPr>
      </p:sp>
      <p:sp>
        <p:nvSpPr>
          <p:cNvPr id="9" name="Gain number 2"/>
          <p:cNvSpPr txBox="1"/>
          <p:nvPr/>
        </p:nvSpPr>
        <p:spPr>
          <a:xfrm>
            <a:off x="3611880" y="2331720"/>
            <a:ext cx="1920240" cy="731520"/>
          </a:xfrm>
          <a:prstGeom prst="rect">
            <a:avLst/>
          </a:prstGeom>
          <a:noFill/>
          <a:ln/>
        </p:spPr>
        <p:txBody>
          <a:bodyPr wrap="square" lIns="0" tIns="0" rIns="0" bIns="0" rtlCol="0" anchor="ctr"/>
          <a:lstStyle/>
          <a:p>
            <a:pPr marL="0" indent="0" algn="l">
              <a:buNone/>
            </a:pPr>
            <a:r>
              <a:rPr lang="en-US" sz="4400" b="1" dirty="0">
                <a:solidFill>
                  <a:schemeClr val="bg2">
                    <a:lumMod val="10000"/>
                  </a:schemeClr>
                </a:solidFill>
              </a:rPr>
              <a:t>0.69</a:t>
            </a:r>
            <a:endParaRPr lang="en-US" sz="4400" dirty="0">
              <a:solidFill>
                <a:schemeClr val="bg2">
                  <a:lumMod val="10000"/>
                </a:schemeClr>
              </a:solidFill>
            </a:endParaRPr>
          </a:p>
        </p:txBody>
      </p:sp>
      <p:sp>
        <p:nvSpPr>
          <p:cNvPr id="10" name="Gain label 2"/>
          <p:cNvSpPr txBox="1"/>
          <p:nvPr/>
        </p:nvSpPr>
        <p:spPr>
          <a:xfrm>
            <a:off x="3611880" y="3063240"/>
            <a:ext cx="1920240" cy="548640"/>
          </a:xfrm>
          <a:prstGeom prst="rect">
            <a:avLst/>
          </a:prstGeom>
          <a:noFill/>
          <a:ln/>
        </p:spPr>
        <p:txBody>
          <a:bodyPr wrap="square" lIns="0" tIns="0" rIns="0" bIns="0" rtlCol="0" anchor="t"/>
          <a:lstStyle/>
          <a:p>
            <a:pPr marL="0" indent="0" algn="l">
              <a:buNone/>
            </a:pPr>
            <a:r>
              <a:rPr lang="en-US" sz="1400" dirty="0">
                <a:solidFill>
                  <a:schemeClr val="tx1"/>
                </a:solidFill>
              </a:rPr>
              <a:t>Average entropy after</a:t>
            </a:r>
            <a:endParaRPr lang="en-US" sz="1400" dirty="0"/>
          </a:p>
          <a:p>
            <a:pPr marL="0" indent="0" algn="l">
              <a:buNone/>
            </a:pPr>
            <a:r>
              <a:rPr lang="en-US" sz="1400" dirty="0">
                <a:solidFill>
                  <a:schemeClr val="tx1"/>
                </a:solidFill>
              </a:rPr>
              <a:t>splitting on Outlook</a:t>
            </a:r>
            <a:endParaRPr lang="en-US" sz="1400" dirty="0"/>
          </a:p>
        </p:txBody>
      </p:sp>
      <p:sp>
        <p:nvSpPr>
          <p:cNvPr id="11" name="Gain card 3"/>
          <p:cNvSpPr/>
          <p:nvPr/>
        </p:nvSpPr>
        <p:spPr>
          <a:xfrm>
            <a:off x="6309360" y="2240280"/>
            <a:ext cx="2286000" cy="1463040"/>
          </a:xfrm>
          <a:prstGeom prst="rect">
            <a:avLst/>
          </a:prstGeom>
          <a:solidFill>
            <a:schemeClr val="tx1"/>
          </a:solidFill>
          <a:ln/>
        </p:spPr>
      </p:sp>
      <p:sp>
        <p:nvSpPr>
          <p:cNvPr id="12" name="Gain number 3"/>
          <p:cNvSpPr txBox="1"/>
          <p:nvPr/>
        </p:nvSpPr>
        <p:spPr>
          <a:xfrm>
            <a:off x="6492240" y="2331720"/>
            <a:ext cx="1920240" cy="731520"/>
          </a:xfrm>
          <a:prstGeom prst="rect">
            <a:avLst/>
          </a:prstGeom>
          <a:noFill/>
          <a:ln/>
        </p:spPr>
        <p:txBody>
          <a:bodyPr wrap="square" lIns="0" tIns="0" rIns="0" bIns="0" rtlCol="0" anchor="ctr"/>
          <a:lstStyle/>
          <a:p>
            <a:pPr marL="0" indent="0" algn="l">
              <a:buNone/>
            </a:pPr>
            <a:r>
              <a:rPr lang="en-US" sz="4400" b="1" dirty="0">
                <a:solidFill>
                  <a:schemeClr val="bg1"/>
                </a:solidFill>
              </a:rPr>
              <a:t>0.25</a:t>
            </a:r>
            <a:endParaRPr lang="en-US" sz="4400" dirty="0"/>
          </a:p>
        </p:txBody>
      </p:sp>
      <p:sp>
        <p:nvSpPr>
          <p:cNvPr id="13" name="Gain label 3"/>
          <p:cNvSpPr txBox="1"/>
          <p:nvPr/>
        </p:nvSpPr>
        <p:spPr>
          <a:xfrm>
            <a:off x="6492240" y="3063240"/>
            <a:ext cx="1920240" cy="548640"/>
          </a:xfrm>
          <a:prstGeom prst="rect">
            <a:avLst/>
          </a:prstGeom>
          <a:noFill/>
          <a:ln/>
        </p:spPr>
        <p:txBody>
          <a:bodyPr wrap="square" lIns="0" tIns="0" rIns="0" bIns="0" rtlCol="0" anchor="t"/>
          <a:lstStyle/>
          <a:p>
            <a:pPr marL="0" indent="0" algn="l">
              <a:buNone/>
            </a:pPr>
            <a:r>
              <a:rPr lang="en-US" sz="1400" dirty="0">
                <a:solidFill>
                  <a:schemeClr val="bg1"/>
                </a:solidFill>
              </a:rPr>
              <a:t>Information gain</a:t>
            </a:r>
            <a:endParaRPr lang="en-US" sz="1400" dirty="0"/>
          </a:p>
        </p:txBody>
      </p:sp>
      <p:sp>
        <p:nvSpPr>
          <p:cNvPr id="14" name="Operator 1"/>
          <p:cNvSpPr txBox="1"/>
          <p:nvPr/>
        </p:nvSpPr>
        <p:spPr>
          <a:xfrm>
            <a:off x="2834640" y="2240280"/>
            <a:ext cx="594360" cy="1463040"/>
          </a:xfrm>
          <a:prstGeom prst="rect">
            <a:avLst/>
          </a:prstGeom>
          <a:noFill/>
          <a:ln/>
        </p:spPr>
        <p:txBody>
          <a:bodyPr wrap="square" lIns="0" tIns="0" rIns="0" bIns="0" rtlCol="0" anchor="ctr"/>
          <a:lstStyle/>
          <a:p>
            <a:pPr marL="0" indent="0" algn="ctr">
              <a:buNone/>
            </a:pPr>
            <a:r>
              <a:rPr lang="en-US" sz="3200" b="1" dirty="0">
                <a:solidFill>
                  <a:schemeClr val="accent2"/>
                </a:solidFill>
              </a:rPr>
              <a:t>−</a:t>
            </a:r>
            <a:endParaRPr lang="en-US" sz="3200" dirty="0"/>
          </a:p>
        </p:txBody>
      </p:sp>
      <p:sp>
        <p:nvSpPr>
          <p:cNvPr id="15" name="Operator 2"/>
          <p:cNvSpPr txBox="1"/>
          <p:nvPr/>
        </p:nvSpPr>
        <p:spPr>
          <a:xfrm>
            <a:off x="5715000" y="2240280"/>
            <a:ext cx="594360" cy="1463040"/>
          </a:xfrm>
          <a:prstGeom prst="rect">
            <a:avLst/>
          </a:prstGeom>
          <a:noFill/>
          <a:ln/>
        </p:spPr>
        <p:txBody>
          <a:bodyPr wrap="square" lIns="0" tIns="0" rIns="0" bIns="0" rtlCol="0" anchor="ctr"/>
          <a:lstStyle/>
          <a:p>
            <a:pPr marL="0" indent="0" algn="ctr">
              <a:buNone/>
            </a:pPr>
            <a:r>
              <a:rPr lang="en-US" sz="3200" b="1" dirty="0">
                <a:solidFill>
                  <a:schemeClr val="accent2"/>
                </a:solidFill>
              </a:rPr>
              <a:t>=</a:t>
            </a:r>
            <a:endParaRPr lang="en-US" sz="3200" dirty="0"/>
          </a:p>
        </p:txBody>
      </p:sp>
      <p:sp>
        <p:nvSpPr>
          <p:cNvPr id="16" name="Gain conclusion"/>
          <p:cNvSpPr txBox="1"/>
          <p:nvPr/>
        </p:nvSpPr>
        <p:spPr>
          <a:xfrm>
            <a:off x="548640" y="3931920"/>
            <a:ext cx="8046720" cy="640080"/>
          </a:xfrm>
          <a:prstGeom prst="rect">
            <a:avLst/>
          </a:prstGeom>
          <a:noFill/>
          <a:ln/>
        </p:spPr>
        <p:txBody>
          <a:bodyPr wrap="square" lIns="0" tIns="0" rIns="0" bIns="0" rtlCol="0" anchor="t"/>
          <a:lstStyle/>
          <a:p>
            <a:pPr marL="0" indent="0">
              <a:buNone/>
            </a:pPr>
            <a:r>
              <a:rPr lang="en-US" sz="1400" dirty="0">
                <a:solidFill>
                  <a:schemeClr val="tx1"/>
                </a:solidFill>
              </a:rPr>
              <a:t>The tree scores every feature this way and takes the winner. </a:t>
            </a:r>
            <a:r>
              <a:rPr lang="en-US" sz="1400" b="1" dirty="0">
                <a:solidFill>
                  <a:schemeClr val="tx1"/>
                </a:solidFill>
              </a:rPr>
              <a:t>Outlook 0.25, Humidity 0.15, Wind 0.05, Temperature 0.03</a:t>
            </a:r>
            <a:r>
              <a:rPr lang="en-US" sz="1400" dirty="0">
                <a:solidFill>
                  <a:schemeClr val="tx1"/>
                </a:solidFill>
              </a:rPr>
              <a:t>, so Outlook becomes the root.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Pruning the tree</a:t>
            </a:r>
            <a:endParaRPr lang="en-US" sz="3600" dirty="0"/>
          </a:p>
        </p:txBody>
      </p:sp>
      <p:sp>
        <p:nvSpPr>
          <p:cNvPr id="3" name="Pruning card 1"/>
          <p:cNvSpPr/>
          <p:nvPr/>
        </p:nvSpPr>
        <p:spPr>
          <a:xfrm>
            <a:off x="548640" y="1280160"/>
            <a:ext cx="3931920" cy="2514600"/>
          </a:xfrm>
          <a:prstGeom prst="rect">
            <a:avLst/>
          </a:prstGeom>
          <a:solidFill>
            <a:schemeClr val="bg2"/>
          </a:solidFill>
          <a:ln/>
        </p:spPr>
      </p:sp>
      <p:sp>
        <p:nvSpPr>
          <p:cNvPr id="4" name="Pruning heading 1"/>
          <p:cNvSpPr txBox="1"/>
          <p:nvPr/>
        </p:nvSpPr>
        <p:spPr>
          <a:xfrm>
            <a:off x="731520" y="1371600"/>
            <a:ext cx="3566160" cy="320040"/>
          </a:xfrm>
          <a:prstGeom prst="rect">
            <a:avLst/>
          </a:prstGeom>
          <a:noFill/>
          <a:ln/>
        </p:spPr>
        <p:txBody>
          <a:bodyPr wrap="square" lIns="0" tIns="0" rIns="0" bIns="0" rtlCol="0" anchor="ctr"/>
          <a:lstStyle/>
          <a:p>
            <a:pPr marL="0" indent="0">
              <a:buNone/>
            </a:pPr>
            <a:r>
              <a:rPr lang="en-US" sz="1600" b="1" dirty="0">
                <a:solidFill>
                  <a:schemeClr val="tx1"/>
                </a:solidFill>
              </a:rPr>
              <a:t>Before pruning: 15 nodes</a:t>
            </a:r>
            <a:endParaRPr lang="en-US" sz="1600" dirty="0"/>
          </a:p>
        </p:txBody>
      </p:sp>
      <p:sp>
        <p:nvSpPr>
          <p:cNvPr id="5" name="Pruning caption 1"/>
          <p:cNvSpPr txBox="1"/>
          <p:nvPr/>
        </p:nvSpPr>
        <p:spPr>
          <a:xfrm>
            <a:off x="731520" y="3200400"/>
            <a:ext cx="3566160" cy="548640"/>
          </a:xfrm>
          <a:prstGeom prst="rect">
            <a:avLst/>
          </a:prstGeom>
          <a:noFill/>
          <a:ln/>
        </p:spPr>
        <p:txBody>
          <a:bodyPr wrap="square" lIns="0" tIns="0" rIns="0" bIns="0" rtlCol="0" anchor="t"/>
          <a:lstStyle/>
          <a:p>
            <a:pPr marL="0" indent="0">
              <a:buNone/>
            </a:pPr>
            <a:r>
              <a:rPr lang="en-US" sz="1400" dirty="0">
                <a:solidFill>
                  <a:schemeClr val="tx1"/>
                </a:solidFill>
              </a:rPr>
              <a:t>Fits every training example, noise included. Often stumbles on new data.</a:t>
            </a:r>
            <a:endParaRPr lang="en-US" sz="1400" dirty="0"/>
          </a:p>
        </p:txBody>
      </p:sp>
      <p:sp>
        <p:nvSpPr>
          <p:cNvPr id="6" name="Pruning card 2"/>
          <p:cNvSpPr/>
          <p:nvPr/>
        </p:nvSpPr>
        <p:spPr>
          <a:xfrm>
            <a:off x="4663440" y="1280160"/>
            <a:ext cx="3931920" cy="2514600"/>
          </a:xfrm>
          <a:prstGeom prst="rect">
            <a:avLst/>
          </a:prstGeom>
          <a:solidFill>
            <a:schemeClr val="bg2"/>
          </a:solidFill>
          <a:ln/>
        </p:spPr>
      </p:sp>
      <p:sp>
        <p:nvSpPr>
          <p:cNvPr id="7" name="Pruning heading 2"/>
          <p:cNvSpPr txBox="1"/>
          <p:nvPr/>
        </p:nvSpPr>
        <p:spPr>
          <a:xfrm>
            <a:off x="4846320" y="1371600"/>
            <a:ext cx="3566160" cy="320040"/>
          </a:xfrm>
          <a:prstGeom prst="rect">
            <a:avLst/>
          </a:prstGeom>
          <a:noFill/>
          <a:ln/>
        </p:spPr>
        <p:txBody>
          <a:bodyPr wrap="square" lIns="0" tIns="0" rIns="0" bIns="0" rtlCol="0" anchor="ctr"/>
          <a:lstStyle/>
          <a:p>
            <a:pPr marL="0" indent="0">
              <a:buNone/>
            </a:pPr>
            <a:r>
              <a:rPr lang="en-US" sz="1600" b="1" dirty="0">
                <a:solidFill>
                  <a:schemeClr val="tx1"/>
                </a:solidFill>
              </a:rPr>
              <a:t>After pruning: 5 nodes</a:t>
            </a:r>
            <a:endParaRPr lang="en-US" sz="1600" dirty="0"/>
          </a:p>
        </p:txBody>
      </p:sp>
      <p:sp>
        <p:nvSpPr>
          <p:cNvPr id="8" name="Pruning caption 2"/>
          <p:cNvSpPr txBox="1"/>
          <p:nvPr/>
        </p:nvSpPr>
        <p:spPr>
          <a:xfrm>
            <a:off x="4846320" y="3200400"/>
            <a:ext cx="3566160" cy="548640"/>
          </a:xfrm>
          <a:prstGeom prst="rect">
            <a:avLst/>
          </a:prstGeom>
          <a:noFill/>
          <a:ln/>
        </p:spPr>
        <p:txBody>
          <a:bodyPr wrap="square" lIns="0" tIns="0" rIns="0" bIns="0" rtlCol="0" anchor="t"/>
          <a:lstStyle/>
          <a:p>
            <a:pPr marL="0" indent="0">
              <a:buNone/>
            </a:pPr>
            <a:r>
              <a:rPr lang="en-US" sz="1400" dirty="0">
                <a:solidFill>
                  <a:schemeClr val="tx1"/>
                </a:solidFill>
              </a:rPr>
              <a:t>Gives up a little accuracy on training data, but holds up better on new data.</a:t>
            </a:r>
            <a:endParaRPr lang="en-US" sz="1400" dirty="0"/>
          </a:p>
        </p:txBody>
      </p:sp>
      <p:sp>
        <p:nvSpPr>
          <p:cNvPr id="9" name="Unpruned edge 1"/>
          <p:cNvSpPr/>
          <p:nvPr/>
        </p:nvSpPr>
        <p:spPr>
          <a:xfrm flipV="1">
            <a:off x="1783080" y="1883664"/>
            <a:ext cx="731520" cy="338328"/>
          </a:xfrm>
          <a:prstGeom prst="line">
            <a:avLst/>
          </a:prstGeom>
          <a:noFill/>
          <a:ln w="19050">
            <a:solidFill>
              <a:schemeClr val="accent3"/>
            </a:solidFill>
            <a:prstDash val="solid"/>
          </a:ln>
        </p:spPr>
      </p:sp>
      <p:sp>
        <p:nvSpPr>
          <p:cNvPr id="10" name="Unpruned edge 2"/>
          <p:cNvSpPr/>
          <p:nvPr/>
        </p:nvSpPr>
        <p:spPr>
          <a:xfrm>
            <a:off x="2514600" y="1883664"/>
            <a:ext cx="731520" cy="338328"/>
          </a:xfrm>
          <a:prstGeom prst="line">
            <a:avLst/>
          </a:prstGeom>
          <a:noFill/>
          <a:ln w="19050">
            <a:solidFill>
              <a:schemeClr val="accent3"/>
            </a:solidFill>
            <a:prstDash val="solid"/>
          </a:ln>
        </p:spPr>
      </p:sp>
      <p:sp>
        <p:nvSpPr>
          <p:cNvPr id="11" name="Unpruned edge 3"/>
          <p:cNvSpPr/>
          <p:nvPr/>
        </p:nvSpPr>
        <p:spPr>
          <a:xfrm flipV="1">
            <a:off x="1417320" y="2221992"/>
            <a:ext cx="365760" cy="338328"/>
          </a:xfrm>
          <a:prstGeom prst="line">
            <a:avLst/>
          </a:prstGeom>
          <a:noFill/>
          <a:ln w="19050">
            <a:solidFill>
              <a:schemeClr val="accent3"/>
            </a:solidFill>
            <a:prstDash val="solid"/>
          </a:ln>
        </p:spPr>
      </p:sp>
      <p:sp>
        <p:nvSpPr>
          <p:cNvPr id="12" name="Unpruned edge 4"/>
          <p:cNvSpPr/>
          <p:nvPr/>
        </p:nvSpPr>
        <p:spPr>
          <a:xfrm>
            <a:off x="1783080" y="2221992"/>
            <a:ext cx="365760" cy="338328"/>
          </a:xfrm>
          <a:prstGeom prst="line">
            <a:avLst/>
          </a:prstGeom>
          <a:noFill/>
          <a:ln w="19050">
            <a:solidFill>
              <a:schemeClr val="accent3"/>
            </a:solidFill>
            <a:prstDash val="solid"/>
          </a:ln>
        </p:spPr>
      </p:sp>
      <p:sp>
        <p:nvSpPr>
          <p:cNvPr id="13" name="Unpruned edge 5"/>
          <p:cNvSpPr/>
          <p:nvPr/>
        </p:nvSpPr>
        <p:spPr>
          <a:xfrm flipV="1">
            <a:off x="2880360" y="2221992"/>
            <a:ext cx="365760" cy="338328"/>
          </a:xfrm>
          <a:prstGeom prst="line">
            <a:avLst/>
          </a:prstGeom>
          <a:noFill/>
          <a:ln w="19050">
            <a:solidFill>
              <a:schemeClr val="accent3"/>
            </a:solidFill>
            <a:prstDash val="solid"/>
          </a:ln>
        </p:spPr>
      </p:sp>
      <p:sp>
        <p:nvSpPr>
          <p:cNvPr id="14" name="Unpruned edge 6"/>
          <p:cNvSpPr/>
          <p:nvPr/>
        </p:nvSpPr>
        <p:spPr>
          <a:xfrm>
            <a:off x="3246120" y="2221992"/>
            <a:ext cx="365760" cy="338328"/>
          </a:xfrm>
          <a:prstGeom prst="line">
            <a:avLst/>
          </a:prstGeom>
          <a:noFill/>
          <a:ln w="19050">
            <a:solidFill>
              <a:schemeClr val="accent3"/>
            </a:solidFill>
            <a:prstDash val="solid"/>
          </a:ln>
        </p:spPr>
      </p:sp>
      <p:sp>
        <p:nvSpPr>
          <p:cNvPr id="15" name="Unpruned edge 7"/>
          <p:cNvSpPr/>
          <p:nvPr/>
        </p:nvSpPr>
        <p:spPr>
          <a:xfrm flipV="1">
            <a:off x="1234440" y="2560320"/>
            <a:ext cx="182880" cy="338328"/>
          </a:xfrm>
          <a:prstGeom prst="line">
            <a:avLst/>
          </a:prstGeom>
          <a:noFill/>
          <a:ln w="19050">
            <a:solidFill>
              <a:schemeClr val="accent3"/>
            </a:solidFill>
            <a:prstDash val="solid"/>
          </a:ln>
        </p:spPr>
      </p:sp>
      <p:sp>
        <p:nvSpPr>
          <p:cNvPr id="16" name="Unpruned edge 8"/>
          <p:cNvSpPr/>
          <p:nvPr/>
        </p:nvSpPr>
        <p:spPr>
          <a:xfrm>
            <a:off x="1417320" y="2560320"/>
            <a:ext cx="182880" cy="338328"/>
          </a:xfrm>
          <a:prstGeom prst="line">
            <a:avLst/>
          </a:prstGeom>
          <a:noFill/>
          <a:ln w="19050">
            <a:solidFill>
              <a:schemeClr val="accent3"/>
            </a:solidFill>
            <a:prstDash val="solid"/>
          </a:ln>
        </p:spPr>
      </p:sp>
      <p:sp>
        <p:nvSpPr>
          <p:cNvPr id="17" name="Unpruned edge 9"/>
          <p:cNvSpPr/>
          <p:nvPr/>
        </p:nvSpPr>
        <p:spPr>
          <a:xfrm flipV="1">
            <a:off x="1965960" y="2560320"/>
            <a:ext cx="182880" cy="338328"/>
          </a:xfrm>
          <a:prstGeom prst="line">
            <a:avLst/>
          </a:prstGeom>
          <a:noFill/>
          <a:ln w="19050">
            <a:solidFill>
              <a:schemeClr val="accent3"/>
            </a:solidFill>
            <a:prstDash val="solid"/>
          </a:ln>
        </p:spPr>
      </p:sp>
      <p:sp>
        <p:nvSpPr>
          <p:cNvPr id="18" name="Unpruned edge 10"/>
          <p:cNvSpPr/>
          <p:nvPr/>
        </p:nvSpPr>
        <p:spPr>
          <a:xfrm>
            <a:off x="2148840" y="2560320"/>
            <a:ext cx="182880" cy="338328"/>
          </a:xfrm>
          <a:prstGeom prst="line">
            <a:avLst/>
          </a:prstGeom>
          <a:noFill/>
          <a:ln w="19050">
            <a:solidFill>
              <a:schemeClr val="accent3"/>
            </a:solidFill>
            <a:prstDash val="solid"/>
          </a:ln>
        </p:spPr>
      </p:sp>
      <p:sp>
        <p:nvSpPr>
          <p:cNvPr id="19" name="Unpruned edge 11"/>
          <p:cNvSpPr/>
          <p:nvPr/>
        </p:nvSpPr>
        <p:spPr>
          <a:xfrm flipV="1">
            <a:off x="2697480" y="2560320"/>
            <a:ext cx="182880" cy="338328"/>
          </a:xfrm>
          <a:prstGeom prst="line">
            <a:avLst/>
          </a:prstGeom>
          <a:noFill/>
          <a:ln w="19050">
            <a:solidFill>
              <a:schemeClr val="accent3"/>
            </a:solidFill>
            <a:prstDash val="solid"/>
          </a:ln>
        </p:spPr>
      </p:sp>
      <p:sp>
        <p:nvSpPr>
          <p:cNvPr id="20" name="Unpruned edge 12"/>
          <p:cNvSpPr/>
          <p:nvPr/>
        </p:nvSpPr>
        <p:spPr>
          <a:xfrm>
            <a:off x="2880360" y="2560320"/>
            <a:ext cx="182880" cy="338328"/>
          </a:xfrm>
          <a:prstGeom prst="line">
            <a:avLst/>
          </a:prstGeom>
          <a:noFill/>
          <a:ln w="19050">
            <a:solidFill>
              <a:schemeClr val="accent3"/>
            </a:solidFill>
            <a:prstDash val="solid"/>
          </a:ln>
        </p:spPr>
      </p:sp>
      <p:sp>
        <p:nvSpPr>
          <p:cNvPr id="21" name="Unpruned edge 13"/>
          <p:cNvSpPr/>
          <p:nvPr/>
        </p:nvSpPr>
        <p:spPr>
          <a:xfrm flipV="1">
            <a:off x="3429000" y="2560320"/>
            <a:ext cx="182880" cy="338328"/>
          </a:xfrm>
          <a:prstGeom prst="line">
            <a:avLst/>
          </a:prstGeom>
          <a:noFill/>
          <a:ln w="19050">
            <a:solidFill>
              <a:schemeClr val="accent3"/>
            </a:solidFill>
            <a:prstDash val="solid"/>
          </a:ln>
        </p:spPr>
      </p:sp>
      <p:sp>
        <p:nvSpPr>
          <p:cNvPr id="22" name="Unpruned edge 14"/>
          <p:cNvSpPr/>
          <p:nvPr/>
        </p:nvSpPr>
        <p:spPr>
          <a:xfrm>
            <a:off x="3611880" y="2560320"/>
            <a:ext cx="182880" cy="338328"/>
          </a:xfrm>
          <a:prstGeom prst="line">
            <a:avLst/>
          </a:prstGeom>
          <a:noFill/>
          <a:ln w="19050">
            <a:solidFill>
              <a:schemeClr val="accent3"/>
            </a:solidFill>
            <a:prstDash val="solid"/>
          </a:ln>
        </p:spPr>
      </p:sp>
      <p:sp>
        <p:nvSpPr>
          <p:cNvPr id="23" name="Unpruned node 0-0"/>
          <p:cNvSpPr/>
          <p:nvPr/>
        </p:nvSpPr>
        <p:spPr>
          <a:xfrm>
            <a:off x="2414016" y="1783080"/>
            <a:ext cx="201168" cy="201168"/>
          </a:xfrm>
          <a:prstGeom prst="ellipse">
            <a:avLst/>
          </a:prstGeom>
          <a:solidFill>
            <a:schemeClr val="accent4"/>
          </a:solidFill>
          <a:ln/>
        </p:spPr>
      </p:sp>
      <p:sp>
        <p:nvSpPr>
          <p:cNvPr id="24" name="Unpruned node 1-0"/>
          <p:cNvSpPr/>
          <p:nvPr/>
        </p:nvSpPr>
        <p:spPr>
          <a:xfrm>
            <a:off x="1682496" y="2121408"/>
            <a:ext cx="201168" cy="201168"/>
          </a:xfrm>
          <a:prstGeom prst="ellipse">
            <a:avLst/>
          </a:prstGeom>
          <a:solidFill>
            <a:schemeClr val="accent4"/>
          </a:solidFill>
          <a:ln/>
        </p:spPr>
      </p:sp>
      <p:sp>
        <p:nvSpPr>
          <p:cNvPr id="25" name="Unpruned node 1-1"/>
          <p:cNvSpPr/>
          <p:nvPr/>
        </p:nvSpPr>
        <p:spPr>
          <a:xfrm>
            <a:off x="3145536" y="2121408"/>
            <a:ext cx="201168" cy="201168"/>
          </a:xfrm>
          <a:prstGeom prst="ellipse">
            <a:avLst/>
          </a:prstGeom>
          <a:solidFill>
            <a:schemeClr val="accent4"/>
          </a:solidFill>
          <a:ln/>
        </p:spPr>
      </p:sp>
      <p:sp>
        <p:nvSpPr>
          <p:cNvPr id="26" name="Unpruned node 2-0"/>
          <p:cNvSpPr/>
          <p:nvPr/>
        </p:nvSpPr>
        <p:spPr>
          <a:xfrm>
            <a:off x="1316736" y="2459736"/>
            <a:ext cx="201168" cy="201168"/>
          </a:xfrm>
          <a:prstGeom prst="ellipse">
            <a:avLst/>
          </a:prstGeom>
          <a:solidFill>
            <a:schemeClr val="accent4"/>
          </a:solidFill>
          <a:ln/>
        </p:spPr>
      </p:sp>
      <p:sp>
        <p:nvSpPr>
          <p:cNvPr id="27" name="Unpruned node 2-1"/>
          <p:cNvSpPr/>
          <p:nvPr/>
        </p:nvSpPr>
        <p:spPr>
          <a:xfrm>
            <a:off x="2048256" y="2459736"/>
            <a:ext cx="201168" cy="201168"/>
          </a:xfrm>
          <a:prstGeom prst="ellipse">
            <a:avLst/>
          </a:prstGeom>
          <a:solidFill>
            <a:schemeClr val="accent4"/>
          </a:solidFill>
          <a:ln/>
        </p:spPr>
      </p:sp>
      <p:sp>
        <p:nvSpPr>
          <p:cNvPr id="28" name="Unpruned node 2-2"/>
          <p:cNvSpPr/>
          <p:nvPr/>
        </p:nvSpPr>
        <p:spPr>
          <a:xfrm>
            <a:off x="2779776" y="2459736"/>
            <a:ext cx="201168" cy="201168"/>
          </a:xfrm>
          <a:prstGeom prst="ellipse">
            <a:avLst/>
          </a:prstGeom>
          <a:solidFill>
            <a:schemeClr val="accent4"/>
          </a:solidFill>
          <a:ln/>
        </p:spPr>
      </p:sp>
      <p:sp>
        <p:nvSpPr>
          <p:cNvPr id="29" name="Unpruned node 2-3"/>
          <p:cNvSpPr/>
          <p:nvPr/>
        </p:nvSpPr>
        <p:spPr>
          <a:xfrm>
            <a:off x="3511296" y="2459736"/>
            <a:ext cx="201168" cy="201168"/>
          </a:xfrm>
          <a:prstGeom prst="ellipse">
            <a:avLst/>
          </a:prstGeom>
          <a:solidFill>
            <a:schemeClr val="accent4"/>
          </a:solidFill>
          <a:ln/>
        </p:spPr>
      </p:sp>
      <p:sp>
        <p:nvSpPr>
          <p:cNvPr id="30" name="Unpruned node 3-0"/>
          <p:cNvSpPr/>
          <p:nvPr/>
        </p:nvSpPr>
        <p:spPr>
          <a:xfrm>
            <a:off x="1133856" y="2798064"/>
            <a:ext cx="201168" cy="201168"/>
          </a:xfrm>
          <a:prstGeom prst="ellipse">
            <a:avLst/>
          </a:prstGeom>
          <a:solidFill>
            <a:schemeClr val="tx1"/>
          </a:solidFill>
          <a:ln/>
        </p:spPr>
      </p:sp>
      <p:sp>
        <p:nvSpPr>
          <p:cNvPr id="31" name="Unpruned node 3-1"/>
          <p:cNvSpPr/>
          <p:nvPr/>
        </p:nvSpPr>
        <p:spPr>
          <a:xfrm>
            <a:off x="1499616" y="2798064"/>
            <a:ext cx="201168" cy="201168"/>
          </a:xfrm>
          <a:prstGeom prst="ellipse">
            <a:avLst/>
          </a:prstGeom>
          <a:solidFill>
            <a:schemeClr val="tx1"/>
          </a:solidFill>
          <a:ln/>
        </p:spPr>
      </p:sp>
      <p:sp>
        <p:nvSpPr>
          <p:cNvPr id="32" name="Unpruned node 3-2"/>
          <p:cNvSpPr/>
          <p:nvPr/>
        </p:nvSpPr>
        <p:spPr>
          <a:xfrm>
            <a:off x="1865376" y="2798064"/>
            <a:ext cx="201168" cy="201168"/>
          </a:xfrm>
          <a:prstGeom prst="ellipse">
            <a:avLst/>
          </a:prstGeom>
          <a:solidFill>
            <a:schemeClr val="tx1"/>
          </a:solidFill>
          <a:ln/>
        </p:spPr>
      </p:sp>
      <p:sp>
        <p:nvSpPr>
          <p:cNvPr id="33" name="Unpruned node 3-3"/>
          <p:cNvSpPr/>
          <p:nvPr/>
        </p:nvSpPr>
        <p:spPr>
          <a:xfrm>
            <a:off x="2231136" y="2798064"/>
            <a:ext cx="201168" cy="201168"/>
          </a:xfrm>
          <a:prstGeom prst="ellipse">
            <a:avLst/>
          </a:prstGeom>
          <a:solidFill>
            <a:schemeClr val="tx1"/>
          </a:solidFill>
          <a:ln/>
        </p:spPr>
      </p:sp>
      <p:sp>
        <p:nvSpPr>
          <p:cNvPr id="34" name="Unpruned node 3-4"/>
          <p:cNvSpPr/>
          <p:nvPr/>
        </p:nvSpPr>
        <p:spPr>
          <a:xfrm>
            <a:off x="2596896" y="2798064"/>
            <a:ext cx="201168" cy="201168"/>
          </a:xfrm>
          <a:prstGeom prst="ellipse">
            <a:avLst/>
          </a:prstGeom>
          <a:solidFill>
            <a:schemeClr val="tx1"/>
          </a:solidFill>
          <a:ln/>
        </p:spPr>
      </p:sp>
      <p:sp>
        <p:nvSpPr>
          <p:cNvPr id="35" name="Unpruned node 3-5"/>
          <p:cNvSpPr/>
          <p:nvPr/>
        </p:nvSpPr>
        <p:spPr>
          <a:xfrm>
            <a:off x="2962656" y="2798064"/>
            <a:ext cx="201168" cy="201168"/>
          </a:xfrm>
          <a:prstGeom prst="ellipse">
            <a:avLst/>
          </a:prstGeom>
          <a:solidFill>
            <a:schemeClr val="tx1"/>
          </a:solidFill>
          <a:ln/>
        </p:spPr>
      </p:sp>
      <p:sp>
        <p:nvSpPr>
          <p:cNvPr id="36" name="Unpruned node 3-6"/>
          <p:cNvSpPr/>
          <p:nvPr/>
        </p:nvSpPr>
        <p:spPr>
          <a:xfrm>
            <a:off x="3328416" y="2798064"/>
            <a:ext cx="201168" cy="201168"/>
          </a:xfrm>
          <a:prstGeom prst="ellipse">
            <a:avLst/>
          </a:prstGeom>
          <a:solidFill>
            <a:schemeClr val="tx1"/>
          </a:solidFill>
          <a:ln/>
        </p:spPr>
      </p:sp>
      <p:sp>
        <p:nvSpPr>
          <p:cNvPr id="37" name="Unpruned node 3-7"/>
          <p:cNvSpPr/>
          <p:nvPr/>
        </p:nvSpPr>
        <p:spPr>
          <a:xfrm>
            <a:off x="3694176" y="2798064"/>
            <a:ext cx="201168" cy="201168"/>
          </a:xfrm>
          <a:prstGeom prst="ellipse">
            <a:avLst/>
          </a:prstGeom>
          <a:solidFill>
            <a:schemeClr val="tx1"/>
          </a:solidFill>
          <a:ln/>
        </p:spPr>
      </p:sp>
      <p:sp>
        <p:nvSpPr>
          <p:cNvPr id="38" name="Pruned edge 1"/>
          <p:cNvSpPr/>
          <p:nvPr/>
        </p:nvSpPr>
        <p:spPr>
          <a:xfrm flipV="1">
            <a:off x="5897880" y="1883664"/>
            <a:ext cx="731520" cy="338328"/>
          </a:xfrm>
          <a:prstGeom prst="line">
            <a:avLst/>
          </a:prstGeom>
          <a:noFill/>
          <a:ln w="19050">
            <a:solidFill>
              <a:schemeClr val="accent3"/>
            </a:solidFill>
            <a:prstDash val="solid"/>
          </a:ln>
        </p:spPr>
      </p:sp>
      <p:sp>
        <p:nvSpPr>
          <p:cNvPr id="39" name="Pruned edge 2"/>
          <p:cNvSpPr/>
          <p:nvPr/>
        </p:nvSpPr>
        <p:spPr>
          <a:xfrm>
            <a:off x="6629400" y="1883664"/>
            <a:ext cx="731520" cy="338328"/>
          </a:xfrm>
          <a:prstGeom prst="line">
            <a:avLst/>
          </a:prstGeom>
          <a:noFill/>
          <a:ln w="19050">
            <a:solidFill>
              <a:schemeClr val="accent3"/>
            </a:solidFill>
            <a:prstDash val="solid"/>
          </a:ln>
        </p:spPr>
      </p:sp>
      <p:sp>
        <p:nvSpPr>
          <p:cNvPr id="40" name="Pruned edge 3"/>
          <p:cNvSpPr/>
          <p:nvPr/>
        </p:nvSpPr>
        <p:spPr>
          <a:xfrm flipV="1">
            <a:off x="6995160" y="2221992"/>
            <a:ext cx="365760" cy="338328"/>
          </a:xfrm>
          <a:prstGeom prst="line">
            <a:avLst/>
          </a:prstGeom>
          <a:noFill/>
          <a:ln w="19050">
            <a:solidFill>
              <a:schemeClr val="accent3"/>
            </a:solidFill>
            <a:prstDash val="solid"/>
          </a:ln>
        </p:spPr>
      </p:sp>
      <p:sp>
        <p:nvSpPr>
          <p:cNvPr id="41" name="Pruned edge 4"/>
          <p:cNvSpPr/>
          <p:nvPr/>
        </p:nvSpPr>
        <p:spPr>
          <a:xfrm>
            <a:off x="7360920" y="2221992"/>
            <a:ext cx="365760" cy="338328"/>
          </a:xfrm>
          <a:prstGeom prst="line">
            <a:avLst/>
          </a:prstGeom>
          <a:noFill/>
          <a:ln w="19050">
            <a:solidFill>
              <a:schemeClr val="accent3"/>
            </a:solidFill>
            <a:prstDash val="solid"/>
          </a:ln>
        </p:spPr>
      </p:sp>
      <p:sp>
        <p:nvSpPr>
          <p:cNvPr id="42" name="Pruned node r"/>
          <p:cNvSpPr/>
          <p:nvPr/>
        </p:nvSpPr>
        <p:spPr>
          <a:xfrm>
            <a:off x="6528816" y="1783080"/>
            <a:ext cx="201168" cy="201168"/>
          </a:xfrm>
          <a:prstGeom prst="ellipse">
            <a:avLst/>
          </a:prstGeom>
          <a:solidFill>
            <a:schemeClr val="accent4"/>
          </a:solidFill>
          <a:ln/>
        </p:spPr>
      </p:sp>
      <p:sp>
        <p:nvSpPr>
          <p:cNvPr id="43" name="Pruned node a"/>
          <p:cNvSpPr/>
          <p:nvPr/>
        </p:nvSpPr>
        <p:spPr>
          <a:xfrm>
            <a:off x="5797296" y="2121408"/>
            <a:ext cx="201168" cy="201168"/>
          </a:xfrm>
          <a:prstGeom prst="ellipse">
            <a:avLst/>
          </a:prstGeom>
          <a:solidFill>
            <a:schemeClr val="tx1"/>
          </a:solidFill>
          <a:ln/>
        </p:spPr>
      </p:sp>
      <p:sp>
        <p:nvSpPr>
          <p:cNvPr id="44" name="Pruned node b"/>
          <p:cNvSpPr/>
          <p:nvPr/>
        </p:nvSpPr>
        <p:spPr>
          <a:xfrm>
            <a:off x="7260336" y="2121408"/>
            <a:ext cx="201168" cy="201168"/>
          </a:xfrm>
          <a:prstGeom prst="ellipse">
            <a:avLst/>
          </a:prstGeom>
          <a:solidFill>
            <a:schemeClr val="accent4"/>
          </a:solidFill>
          <a:ln/>
        </p:spPr>
      </p:sp>
      <p:sp>
        <p:nvSpPr>
          <p:cNvPr id="45" name="Pruned node c"/>
          <p:cNvSpPr/>
          <p:nvPr/>
        </p:nvSpPr>
        <p:spPr>
          <a:xfrm>
            <a:off x="6894576" y="2459736"/>
            <a:ext cx="201168" cy="201168"/>
          </a:xfrm>
          <a:prstGeom prst="ellipse">
            <a:avLst/>
          </a:prstGeom>
          <a:solidFill>
            <a:schemeClr val="tx1"/>
          </a:solidFill>
          <a:ln/>
        </p:spPr>
      </p:sp>
      <p:sp>
        <p:nvSpPr>
          <p:cNvPr id="46" name="Pruned node d"/>
          <p:cNvSpPr/>
          <p:nvPr/>
        </p:nvSpPr>
        <p:spPr>
          <a:xfrm>
            <a:off x="7626096" y="2459736"/>
            <a:ext cx="201168" cy="201168"/>
          </a:xfrm>
          <a:prstGeom prst="ellipse">
            <a:avLst/>
          </a:prstGeom>
          <a:solidFill>
            <a:schemeClr val="tx1"/>
          </a:solidFill>
          <a:ln/>
        </p:spPr>
      </p:sp>
      <p:sp>
        <p:nvSpPr>
          <p:cNvPr id="47" name="Pre-pruning text"/>
          <p:cNvSpPr txBox="1"/>
          <p:nvPr/>
        </p:nvSpPr>
        <p:spPr>
          <a:xfrm>
            <a:off x="548640" y="3977640"/>
            <a:ext cx="3931920" cy="594360"/>
          </a:xfrm>
          <a:prstGeom prst="rect">
            <a:avLst/>
          </a:prstGeom>
          <a:noFill/>
          <a:ln/>
        </p:spPr>
        <p:txBody>
          <a:bodyPr wrap="square" lIns="0" tIns="0" rIns="0" bIns="0" rtlCol="0" anchor="t"/>
          <a:lstStyle/>
          <a:p>
            <a:pPr marL="0" indent="0">
              <a:buNone/>
            </a:pPr>
            <a:r>
              <a:rPr lang="en-US" sz="1400" b="1" dirty="0">
                <a:solidFill>
                  <a:schemeClr val="tx1"/>
                </a:solidFill>
              </a:rPr>
              <a:t>Pre-pruning: </a:t>
            </a:r>
            <a:r>
              <a:rPr lang="en-US" sz="1400" dirty="0">
                <a:solidFill>
                  <a:schemeClr val="tx1"/>
                </a:solidFill>
              </a:rPr>
              <a:t>stop early, by capping depth or requiring a minimum number of examples per leaf.</a:t>
            </a:r>
            <a:endParaRPr lang="en-US" sz="1400" dirty="0"/>
          </a:p>
        </p:txBody>
      </p:sp>
      <p:sp>
        <p:nvSpPr>
          <p:cNvPr id="48" name="Post-pruning text"/>
          <p:cNvSpPr txBox="1"/>
          <p:nvPr/>
        </p:nvSpPr>
        <p:spPr>
          <a:xfrm>
            <a:off x="4663440" y="3977640"/>
            <a:ext cx="3931920" cy="594360"/>
          </a:xfrm>
          <a:prstGeom prst="rect">
            <a:avLst/>
          </a:prstGeom>
          <a:noFill/>
          <a:ln/>
        </p:spPr>
        <p:txBody>
          <a:bodyPr wrap="square" lIns="0" tIns="0" rIns="0" bIns="0" rtlCol="0" anchor="t"/>
          <a:lstStyle/>
          <a:p>
            <a:pPr marL="0" indent="0">
              <a:buNone/>
            </a:pPr>
            <a:r>
              <a:rPr lang="en-US" sz="1400" b="1" dirty="0">
                <a:solidFill>
                  <a:schemeClr val="tx1"/>
                </a:solidFill>
              </a:rPr>
              <a:t>Post-pruning: </a:t>
            </a:r>
            <a:r>
              <a:rPr lang="en-US" sz="1400" dirty="0">
                <a:solidFill>
                  <a:schemeClr val="tx1"/>
                </a:solidFill>
              </a:rPr>
              <a:t>grow the full tree, then cut branches that don't help on held-out data.</a:t>
            </a:r>
            <a:endParaRPr lang="en-US" sz="1400" dirty="0"/>
          </a:p>
        </p:txBody>
      </p:sp>
      <p:sp>
        <p:nvSpPr>
          <p:cNvPr id="49"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600" b="1" dirty="0">
                <a:solidFill>
                  <a:schemeClr val="tx1"/>
                </a:solidFill>
              </a:rPr>
              <a:t>Strengths, limits and uses</a:t>
            </a:r>
            <a:endParaRPr lang="en-US" sz="3600" dirty="0"/>
          </a:p>
        </p:txBody>
      </p:sp>
      <p:sp>
        <p:nvSpPr>
          <p:cNvPr id="3" name="Column card 1"/>
          <p:cNvSpPr/>
          <p:nvPr/>
        </p:nvSpPr>
        <p:spPr>
          <a:xfrm>
            <a:off x="548640" y="1280160"/>
            <a:ext cx="2560320" cy="2834640"/>
          </a:xfrm>
          <a:prstGeom prst="rect">
            <a:avLst/>
          </a:prstGeom>
          <a:solidFill>
            <a:schemeClr val="bg2"/>
          </a:solidFill>
          <a:ln/>
        </p:spPr>
      </p:sp>
      <p:sp>
        <p:nvSpPr>
          <p:cNvPr id="4" name="Column heading 1"/>
          <p:cNvSpPr txBox="1"/>
          <p:nvPr/>
        </p:nvSpPr>
        <p:spPr>
          <a:xfrm>
            <a:off x="731520" y="1417320"/>
            <a:ext cx="2194560" cy="365760"/>
          </a:xfrm>
          <a:prstGeom prst="rect">
            <a:avLst/>
          </a:prstGeom>
          <a:noFill/>
          <a:ln/>
        </p:spPr>
        <p:txBody>
          <a:bodyPr wrap="square" lIns="0" tIns="0" rIns="0" bIns="0" rtlCol="0" anchor="ctr"/>
          <a:lstStyle/>
          <a:p>
            <a:pPr marL="0" indent="0">
              <a:buNone/>
            </a:pPr>
            <a:r>
              <a:rPr lang="en-US" sz="1800" b="1" dirty="0">
                <a:solidFill>
                  <a:schemeClr val="bg2">
                    <a:lumMod val="10000"/>
                  </a:schemeClr>
                </a:solidFill>
              </a:rPr>
              <a:t>Strengths</a:t>
            </a:r>
            <a:endParaRPr lang="en-US" sz="1800" dirty="0">
              <a:solidFill>
                <a:schemeClr val="bg2">
                  <a:lumMod val="10000"/>
                </a:schemeClr>
              </a:solidFill>
            </a:endParaRPr>
          </a:p>
        </p:txBody>
      </p:sp>
      <p:sp>
        <p:nvSpPr>
          <p:cNvPr id="5" name="Column list 1"/>
          <p:cNvSpPr txBox="1"/>
          <p:nvPr/>
        </p:nvSpPr>
        <p:spPr>
          <a:xfrm>
            <a:off x="731520" y="1920240"/>
            <a:ext cx="2194560"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Easy to read and explain</a:t>
            </a:r>
            <a:endParaRPr lang="en-US" sz="1400" dirty="0"/>
          </a:p>
          <a:p>
            <a:pPr marL="177800" indent="-177800">
              <a:spcAft>
                <a:spcPts val="800"/>
              </a:spcAft>
              <a:buSzPct val="100000"/>
              <a:buChar char="•"/>
            </a:pPr>
            <a:r>
              <a:rPr lang="en-US" sz="1400" dirty="0">
                <a:solidFill>
                  <a:schemeClr val="tx1"/>
                </a:solidFill>
              </a:rPr>
              <a:t>Needs little data cleaning</a:t>
            </a:r>
            <a:endParaRPr lang="en-US" sz="1400" dirty="0"/>
          </a:p>
          <a:p>
            <a:pPr marL="177800" indent="-177800">
              <a:spcAft>
                <a:spcPts val="800"/>
              </a:spcAft>
              <a:buSzPct val="100000"/>
              <a:buChar char="•"/>
            </a:pPr>
            <a:r>
              <a:rPr lang="en-US" sz="1400" dirty="0">
                <a:solidFill>
                  <a:schemeClr val="tx1"/>
                </a:solidFill>
              </a:rPr>
              <a:t>Handles numbers and categories</a:t>
            </a:r>
            <a:endParaRPr lang="en-US" sz="1400" dirty="0"/>
          </a:p>
          <a:p>
            <a:pPr marL="177800" indent="-177800">
              <a:spcAft>
                <a:spcPts val="800"/>
              </a:spcAft>
              <a:buSzPct val="100000"/>
              <a:buChar char="•"/>
            </a:pPr>
            <a:r>
              <a:rPr lang="en-US" sz="1400" dirty="0">
                <a:solidFill>
                  <a:schemeClr val="tx1"/>
                </a:solidFill>
              </a:rPr>
              <a:t>Fast to train and to use</a:t>
            </a:r>
            <a:endParaRPr lang="en-US" sz="1400" dirty="0"/>
          </a:p>
        </p:txBody>
      </p:sp>
      <p:sp>
        <p:nvSpPr>
          <p:cNvPr id="6" name="Column card 2"/>
          <p:cNvSpPr/>
          <p:nvPr/>
        </p:nvSpPr>
        <p:spPr>
          <a:xfrm>
            <a:off x="3291840" y="1280160"/>
            <a:ext cx="2560320" cy="2834640"/>
          </a:xfrm>
          <a:prstGeom prst="rect">
            <a:avLst/>
          </a:prstGeom>
          <a:solidFill>
            <a:schemeClr val="bg2"/>
          </a:solidFill>
          <a:ln/>
        </p:spPr>
      </p:sp>
      <p:sp>
        <p:nvSpPr>
          <p:cNvPr id="7" name="Column heading 2"/>
          <p:cNvSpPr txBox="1"/>
          <p:nvPr/>
        </p:nvSpPr>
        <p:spPr>
          <a:xfrm>
            <a:off x="3474720" y="1417320"/>
            <a:ext cx="2194560" cy="365760"/>
          </a:xfrm>
          <a:prstGeom prst="rect">
            <a:avLst/>
          </a:prstGeom>
          <a:noFill/>
          <a:ln/>
        </p:spPr>
        <p:txBody>
          <a:bodyPr wrap="square" lIns="0" tIns="0" rIns="0" bIns="0" rtlCol="0" anchor="ctr"/>
          <a:lstStyle/>
          <a:p>
            <a:pPr marL="0" indent="0">
              <a:buNone/>
            </a:pPr>
            <a:r>
              <a:rPr lang="en-US" sz="1800" b="1" dirty="0">
                <a:solidFill>
                  <a:schemeClr val="bg2">
                    <a:lumMod val="10000"/>
                  </a:schemeClr>
                </a:solidFill>
              </a:rPr>
              <a:t>Limitations</a:t>
            </a:r>
            <a:endParaRPr lang="en-US" sz="1800" dirty="0">
              <a:solidFill>
                <a:schemeClr val="bg2">
                  <a:lumMod val="10000"/>
                </a:schemeClr>
              </a:solidFill>
            </a:endParaRPr>
          </a:p>
        </p:txBody>
      </p:sp>
      <p:sp>
        <p:nvSpPr>
          <p:cNvPr id="8" name="Column list 2"/>
          <p:cNvSpPr txBox="1"/>
          <p:nvPr/>
        </p:nvSpPr>
        <p:spPr>
          <a:xfrm>
            <a:off x="3474720" y="1920240"/>
            <a:ext cx="2194560"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Overfits if left unpruned</a:t>
            </a:r>
            <a:endParaRPr lang="en-US" sz="1400" dirty="0"/>
          </a:p>
          <a:p>
            <a:pPr marL="177800" indent="-177800">
              <a:spcAft>
                <a:spcPts val="800"/>
              </a:spcAft>
              <a:buSzPct val="100000"/>
              <a:buChar char="•"/>
            </a:pPr>
            <a:r>
              <a:rPr lang="en-US" sz="1400" dirty="0">
                <a:solidFill>
                  <a:schemeClr val="tx1"/>
                </a:solidFill>
              </a:rPr>
              <a:t>Small data changes can reshape the tree</a:t>
            </a:r>
            <a:endParaRPr lang="en-US" sz="1400" dirty="0"/>
          </a:p>
          <a:p>
            <a:pPr marL="177800" indent="-177800">
              <a:spcAft>
                <a:spcPts val="800"/>
              </a:spcAft>
              <a:buSzPct val="100000"/>
              <a:buChar char="•"/>
            </a:pPr>
            <a:r>
              <a:rPr lang="en-US" sz="1400" dirty="0">
                <a:solidFill>
                  <a:schemeClr val="tx1"/>
                </a:solidFill>
              </a:rPr>
              <a:t>Blocky splits fit smooth trends poorly</a:t>
            </a:r>
            <a:endParaRPr lang="en-US" sz="1400" dirty="0"/>
          </a:p>
          <a:p>
            <a:pPr marL="177800" indent="-177800">
              <a:spcAft>
                <a:spcPts val="800"/>
              </a:spcAft>
              <a:buSzPct val="100000"/>
              <a:buChar char="•"/>
            </a:pPr>
            <a:r>
              <a:rPr lang="en-US" sz="1400" dirty="0">
                <a:solidFill>
                  <a:schemeClr val="tx1"/>
                </a:solidFill>
              </a:rPr>
              <a:t>Favors features with many values</a:t>
            </a:r>
            <a:endParaRPr lang="en-US" sz="1400" dirty="0"/>
          </a:p>
        </p:txBody>
      </p:sp>
      <p:sp>
        <p:nvSpPr>
          <p:cNvPr id="9" name="Column card 3"/>
          <p:cNvSpPr/>
          <p:nvPr/>
        </p:nvSpPr>
        <p:spPr>
          <a:xfrm>
            <a:off x="6035040" y="1280160"/>
            <a:ext cx="2560320" cy="2834640"/>
          </a:xfrm>
          <a:prstGeom prst="rect">
            <a:avLst/>
          </a:prstGeom>
          <a:solidFill>
            <a:schemeClr val="bg2"/>
          </a:solidFill>
          <a:ln/>
        </p:spPr>
      </p:sp>
      <p:sp>
        <p:nvSpPr>
          <p:cNvPr id="10" name="Column heading 3"/>
          <p:cNvSpPr txBox="1"/>
          <p:nvPr/>
        </p:nvSpPr>
        <p:spPr>
          <a:xfrm>
            <a:off x="6217920" y="1417320"/>
            <a:ext cx="2194560" cy="365760"/>
          </a:xfrm>
          <a:prstGeom prst="rect">
            <a:avLst/>
          </a:prstGeom>
          <a:noFill/>
          <a:ln/>
        </p:spPr>
        <p:txBody>
          <a:bodyPr wrap="square" lIns="0" tIns="0" rIns="0" bIns="0" rtlCol="0" anchor="ctr"/>
          <a:lstStyle/>
          <a:p>
            <a:pPr marL="0" indent="0">
              <a:buNone/>
            </a:pPr>
            <a:r>
              <a:rPr lang="en-US" sz="1800" b="1" dirty="0">
                <a:solidFill>
                  <a:schemeClr val="bg2">
                    <a:lumMod val="10000"/>
                  </a:schemeClr>
                </a:solidFill>
              </a:rPr>
              <a:t>Where it shows up</a:t>
            </a:r>
            <a:endParaRPr lang="en-US" sz="1800" dirty="0">
              <a:solidFill>
                <a:schemeClr val="bg2">
                  <a:lumMod val="10000"/>
                </a:schemeClr>
              </a:solidFill>
            </a:endParaRPr>
          </a:p>
        </p:txBody>
      </p:sp>
      <p:sp>
        <p:nvSpPr>
          <p:cNvPr id="11" name="Column list 3"/>
          <p:cNvSpPr txBox="1"/>
          <p:nvPr/>
        </p:nvSpPr>
        <p:spPr>
          <a:xfrm>
            <a:off x="6217920" y="1920240"/>
            <a:ext cx="2194560"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Sorting email into spam or not</a:t>
            </a:r>
            <a:endParaRPr lang="en-US" sz="1400" dirty="0"/>
          </a:p>
          <a:p>
            <a:pPr marL="177800" indent="-177800">
              <a:spcAft>
                <a:spcPts val="800"/>
              </a:spcAft>
              <a:buSzPct val="100000"/>
              <a:buChar char="•"/>
            </a:pPr>
            <a:r>
              <a:rPr lang="en-US" sz="1400" dirty="0">
                <a:solidFill>
                  <a:schemeClr val="tx1"/>
                </a:solidFill>
              </a:rPr>
              <a:t>Approving or declining loans</a:t>
            </a:r>
            <a:endParaRPr lang="en-US" sz="1400" dirty="0"/>
          </a:p>
          <a:p>
            <a:pPr marL="177800" indent="-177800">
              <a:spcAft>
                <a:spcPts val="800"/>
              </a:spcAft>
              <a:buSzPct val="100000"/>
              <a:buChar char="•"/>
            </a:pPr>
            <a:r>
              <a:rPr lang="en-US" sz="1400" dirty="0">
                <a:solidFill>
                  <a:schemeClr val="tx1"/>
                </a:solidFill>
              </a:rPr>
              <a:t>Troubleshooting checklists</a:t>
            </a:r>
            <a:endParaRPr lang="en-US" sz="1400" dirty="0"/>
          </a:p>
          <a:p>
            <a:pPr marL="177800" indent="-177800">
              <a:spcAft>
                <a:spcPts val="800"/>
              </a:spcAft>
              <a:buSzPct val="100000"/>
              <a:buChar char="•"/>
            </a:pPr>
            <a:r>
              <a:rPr lang="en-US" sz="1400" dirty="0">
                <a:solidFill>
                  <a:schemeClr val="tx1"/>
                </a:solidFill>
              </a:rPr>
              <a:t>The building block of Random Forests</a:t>
            </a:r>
            <a:endParaRPr lang="en-US" sz="1400" dirty="0"/>
          </a:p>
        </p:txBody>
      </p:sp>
      <p:sp>
        <p:nvSpPr>
          <p:cNvPr id="12" name="Takeaway"/>
          <p:cNvSpPr txBox="1"/>
          <p:nvPr/>
        </p:nvSpPr>
        <p:spPr>
          <a:xfrm>
            <a:off x="548640" y="4251960"/>
            <a:ext cx="8046720" cy="365760"/>
          </a:xfrm>
          <a:prstGeom prst="rect">
            <a:avLst/>
          </a:prstGeom>
          <a:noFill/>
          <a:ln/>
        </p:spPr>
        <p:txBody>
          <a:bodyPr wrap="square" lIns="0" tIns="0" rIns="0" bIns="0" rtlCol="0" anchor="ctr"/>
          <a:lstStyle/>
          <a:p>
            <a:pPr marL="0" indent="0">
              <a:buNone/>
            </a:pPr>
            <a:r>
              <a:rPr lang="en-US" sz="1600" i="1" dirty="0">
                <a:solidFill>
                  <a:schemeClr val="tx1"/>
                </a:solidFill>
              </a:rPr>
              <a:t>Simple, readable and a solid first model, as long as you prune it.</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A8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F6AF-5D5D-7E7E-C103-3CCC1585A28E}"/>
              </a:ext>
            </a:extLst>
          </p:cNvPr>
          <p:cNvSpPr>
            <a:spLocks noGrp="1"/>
          </p:cNvSpPr>
          <p:nvPr>
            <p:ph type="title" idx="100"/>
          </p:nvPr>
        </p:nvSpPr>
        <p:spPr>
          <a:xfrm>
            <a:off x="642983" y="2205990"/>
            <a:ext cx="7267303" cy="731520"/>
          </a:xfrm>
        </p:spPr>
        <p:txBody>
          <a:bodyPr/>
          <a:lstStyle/>
          <a:p>
            <a:pPr algn="ctr"/>
            <a:r>
              <a:rPr lang="en-US" dirty="0"/>
              <a:t>	THANK YOU !!!</a:t>
            </a:r>
            <a:endParaRPr lang="en-IN" dirty="0"/>
          </a:p>
        </p:txBody>
      </p:sp>
    </p:spTree>
    <p:extLst>
      <p:ext uri="{BB962C8B-B14F-4D97-AF65-F5344CB8AC3E}">
        <p14:creationId xmlns:p14="http://schemas.microsoft.com/office/powerpoint/2010/main" val="541508425"/>
      </p:ext>
    </p:extLst>
  </p:cSld>
  <p:clrMapOvr>
    <a:masterClrMapping/>
  </p:clrMapOvr>
</p:sld>
</file>

<file path=ppt/theme/theme1.xml><?xml version="1.0" encoding="utf-8"?>
<a:theme xmlns:a="http://schemas.openxmlformats.org/drawingml/2006/main" name="Plain Teal">
  <a:themeElements>
    <a:clrScheme name="Plain Teal">
      <a:dk1>
        <a:srgbClr val="262626"/>
      </a:dk1>
      <a:lt1>
        <a:srgbClr val="FFFFFF"/>
      </a:lt1>
      <a:dk2>
        <a:srgbClr val="2F6F6B"/>
      </a:dk2>
      <a:lt2>
        <a:srgbClr val="F3F3F3"/>
      </a:lt2>
      <a:accent1>
        <a:srgbClr val="2F6F6B"/>
      </a:accent1>
      <a:accent2>
        <a:srgbClr val="6B6B6B"/>
      </a:accent2>
      <a:accent3>
        <a:srgbClr val="BDBDBD"/>
      </a:accent3>
      <a:accent4>
        <a:srgbClr val="8A8A8A"/>
      </a:accent4>
      <a:accent5>
        <a:srgbClr val="D9D9D9"/>
      </a:accent5>
      <a:accent6>
        <a:srgbClr val="4A4A4A"/>
      </a:accent6>
      <a:hlink>
        <a:srgbClr val="2F6F6B"/>
      </a:hlink>
      <a:folHlink>
        <a:srgbClr val="6B6B6B"/>
      </a:folHlink>
    </a:clrScheme>
    <a:fontScheme name="Plain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936</Words>
  <Application>Microsoft Office PowerPoint</Application>
  <PresentationFormat>On-screen Show (16:9)</PresentationFormat>
  <Paragraphs>112</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Google Sans</vt:lpstr>
      <vt:lpstr>Plain Teal</vt:lpstr>
      <vt:lpstr>Decision Trees</vt:lpstr>
      <vt:lpstr>The tree, in plain terms</vt:lpstr>
      <vt:lpstr>How a tree gets built</vt:lpstr>
      <vt:lpstr>Entropy: how mixed up is it?</vt:lpstr>
      <vt:lpstr>Picking the best question</vt:lpstr>
      <vt:lpstr>Pruning the tree</vt:lpstr>
      <vt:lpstr>Strengths, limits and uses</vt:lpstr>
      <vt:lpstr> THANK YOU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 Learning and Representation</dc:title>
  <dc:subject>PptxGenJS Presentation</dc:subject>
  <dc:creator>PptxGenJS</dc:creator>
  <cp:lastModifiedBy>RAMANA RISHI</cp:lastModifiedBy>
  <cp:revision>3</cp:revision>
  <dcterms:created xsi:type="dcterms:W3CDTF">2026-10-08T11:48:15Z</dcterms:created>
  <dcterms:modified xsi:type="dcterms:W3CDTF">2026-10-11T16:19:37Z</dcterms:modified>
</cp:coreProperties>
</file>